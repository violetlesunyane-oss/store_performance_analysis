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Gross revenue
(all orders)</c:v>
                  </c:pt>
                  <c:pt idx="1">
                    <c:v>Cancelled
-R182,310</c:v>
                  </c:pt>
                  <c:pt idx="2">
                    <c:v>Returned
-R103,846</c:v>
                  </c:pt>
                  <c:pt idx="3">
                    <c:v>Payment failed
-R117,898</c:v>
                  </c:pt>
                  <c:pt idx="4">
                    <c:v>Refunded
-R100,983</c:v>
                  </c:pt>
                  <c:pt idx="5">
                    <c:v>Net revenue
(counted)</c:v>
                  </c:pt>
                </c:lvl>
              </c:multiLvlStrCache>
            </c:multiLvlStrRef>
          </c:cat>
          <c:val>
            <c:numRef>
              <c:f>Sheet1!$B$2:$B$7</c:f>
              <c:numCache>
                <c:formatCode>General</c:formatCode>
                <c:ptCount val="6"/>
                <c:pt idx="0">
                  <c:v>0</c:v>
                </c:pt>
                <c:pt idx="1">
                  <c:v>3321190</c:v>
                </c:pt>
                <c:pt idx="2">
                  <c:v>3217344</c:v>
                </c:pt>
                <c:pt idx="3">
                  <c:v>3099446</c:v>
                </c:pt>
                <c:pt idx="4">
                  <c:v>2998463</c:v>
                </c:pt>
                <c:pt idx="5">
                  <c:v>0</c:v>
                </c:pt>
              </c:numCache>
            </c:numRef>
          </c:val>
        </c:ser>
        <c:ser>
          <c:idx val="1"/>
          <c:order val="1"/>
          <c:tx>
            <c:strRef>
              <c:f>Sheet1!$C$1</c:f>
              <c:strCache>
                <c:ptCount val="1"/>
                <c:pt idx="0">
                  <c:v>Gross</c:v>
                </c:pt>
              </c:strCache>
            </c:strRef>
          </c:tx>
          <c:spPr>
            <a:solidFill>
              <a:srgbClr val="00133B"/>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Gross revenue
(all orders)</c:v>
                  </c:pt>
                  <c:pt idx="1">
                    <c:v>Cancelled
-R182,310</c:v>
                  </c:pt>
                  <c:pt idx="2">
                    <c:v>Returned
-R103,846</c:v>
                  </c:pt>
                  <c:pt idx="3">
                    <c:v>Payment failed
-R117,898</c:v>
                  </c:pt>
                  <c:pt idx="4">
                    <c:v>Refunded
-R100,983</c:v>
                  </c:pt>
                  <c:pt idx="5">
                    <c:v>Net revenue
(counted)</c:v>
                  </c:pt>
                </c:lvl>
              </c:multiLvlStrCache>
            </c:multiLvlStrRef>
          </c:cat>
          <c:val>
            <c:numRef>
              <c:f>Sheet1!$C$2:$C$7</c:f>
              <c:numCache>
                <c:formatCode>General</c:formatCode>
                <c:ptCount val="6"/>
                <c:pt idx="0">
                  <c:v>3503500</c:v>
                </c:pt>
                <c:pt idx="1">
                  <c:v>0</c:v>
                </c:pt>
                <c:pt idx="2">
                  <c:v>0</c:v>
                </c:pt>
                <c:pt idx="3">
                  <c:v>0</c:v>
                </c:pt>
                <c:pt idx="4">
                  <c:v>0</c:v>
                </c:pt>
                <c:pt idx="5">
                  <c:v>0</c:v>
                </c:pt>
              </c:numCache>
            </c:numRef>
          </c:val>
        </c:ser>
        <c:ser>
          <c:idx val="2"/>
          <c:order val="2"/>
          <c:tx>
            <c:strRef>
              <c:f>Sheet1!$D$1</c:f>
              <c:strCache>
                <c:ptCount val="1"/>
                <c:pt idx="0">
                  <c:v>Left out</c:v>
                </c:pt>
              </c:strCache>
            </c:strRef>
          </c:tx>
          <c:spPr>
            <a:solidFill>
              <a:srgbClr val="F8A91A"/>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Gross revenue
(all orders)</c:v>
                  </c:pt>
                  <c:pt idx="1">
                    <c:v>Cancelled
-R182,310</c:v>
                  </c:pt>
                  <c:pt idx="2">
                    <c:v>Returned
-R103,846</c:v>
                  </c:pt>
                  <c:pt idx="3">
                    <c:v>Payment failed
-R117,898</c:v>
                  </c:pt>
                  <c:pt idx="4">
                    <c:v>Refunded
-R100,983</c:v>
                  </c:pt>
                  <c:pt idx="5">
                    <c:v>Net revenue
(counted)</c:v>
                  </c:pt>
                </c:lvl>
              </c:multiLvlStrCache>
            </c:multiLvlStrRef>
          </c:cat>
          <c:val>
            <c:numRef>
              <c:f>Sheet1!$D$2:$D$7</c:f>
              <c:numCache>
                <c:formatCode>General</c:formatCode>
                <c:ptCount val="6"/>
                <c:pt idx="0">
                  <c:v>0</c:v>
                </c:pt>
                <c:pt idx="1">
                  <c:v>182310</c:v>
                </c:pt>
                <c:pt idx="2">
                  <c:v>103846</c:v>
                </c:pt>
                <c:pt idx="3">
                  <c:v>117898</c:v>
                </c:pt>
                <c:pt idx="4">
                  <c:v>100983</c:v>
                </c:pt>
                <c:pt idx="5">
                  <c:v>0</c:v>
                </c:pt>
              </c:numCache>
            </c:numRef>
          </c:val>
        </c:ser>
        <c:ser>
          <c:idx val="3"/>
          <c:order val="3"/>
          <c:tx>
            <c:strRef>
              <c:f>Sheet1!$E$1</c:f>
              <c:strCache>
                <c:ptCount val="1"/>
                <c:pt idx="0">
                  <c:v>Net</c:v>
                </c:pt>
              </c:strCache>
            </c:strRef>
          </c:tx>
          <c:spPr>
            <a:solidFill>
              <a:srgbClr val="EF7E29"/>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Gross revenue
(all orders)</c:v>
                  </c:pt>
                  <c:pt idx="1">
                    <c:v>Cancelled
-R182,310</c:v>
                  </c:pt>
                  <c:pt idx="2">
                    <c:v>Returned
-R103,846</c:v>
                  </c:pt>
                  <c:pt idx="3">
                    <c:v>Payment failed
-R117,898</c:v>
                  </c:pt>
                  <c:pt idx="4">
                    <c:v>Refunded
-R100,983</c:v>
                  </c:pt>
                  <c:pt idx="5">
                    <c:v>Net revenue
(counted)</c:v>
                  </c:pt>
                </c:lvl>
              </c:multiLvlStrCache>
            </c:multiLvlStrRef>
          </c:cat>
          <c:val>
            <c:numRef>
              <c:f>Sheet1!$E$2:$E$7</c:f>
              <c:numCache>
                <c:formatCode>General</c:formatCode>
                <c:ptCount val="6"/>
                <c:pt idx="0">
                  <c:v>0</c:v>
                </c:pt>
                <c:pt idx="1">
                  <c:v>0</c:v>
                </c:pt>
                <c:pt idx="2">
                  <c:v>0</c:v>
                </c:pt>
                <c:pt idx="3">
                  <c:v>0</c:v>
                </c:pt>
                <c:pt idx="4">
                  <c:v>0</c:v>
                </c:pt>
                <c:pt idx="5">
                  <c:v>2998463</c:v>
                </c:pt>
              </c:numCache>
            </c:numRef>
          </c:val>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3600000"/>
          <c:min val="2400000"/>
        </c:scaling>
        <c:delete val="0"/>
        <c:axPos val="l"/>
        <c:majorGridlines>
          <c:spPr>
            <a:ln w="9525" cap="flat">
              <a:solidFill>
                <a:srgbClr val="ECEEF2"/>
              </a:solidFill>
              <a:prstDash val="solid"/>
              <a:round/>
            </a:ln>
          </c:spPr>
        </c:majorGridlines>
        <c:numFmt formatCode="&quot;R&quot;#,##0,&quot;k&quot;"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200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Net revenue</c:v>
                </c:pt>
              </c:strCache>
            </c:strRef>
          </c:tx>
          <c:spPr>
            <a:solidFill>
              <a:srgbClr val="00133B"/>
            </a:solidFill>
            <a:ln w="38100" cap="flat">
              <a:solidFill>
                <a:srgbClr val="00133B"/>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7"/>
            <c:spPr>
              <a:solidFill>
                <a:srgbClr val="00133B"/>
              </a:solidFill>
              <a:ln w="9525" cap="flat">
                <a:solidFill>
                  <a:srgbClr val="00133B"/>
                </a:solidFill>
                <a:prstDash val="solid"/>
                <a:round/>
              </a:ln>
              <a:effectLst/>
            </c:spPr>
          </c:marker>
          <c:cat>
            <c:multiLvlStrRef>
              <c:f>Sheet1!$A$2:$A$31</c:f>
              <c:multiLvlStrCache>
                <c:ptCount val="30"/>
                <c:lvl>
                  <c:pt idx="0">
                    <c:v>2024-01</c:v>
                  </c:pt>
                  <c:pt idx="1">
                    <c:v>2024-02</c:v>
                  </c:pt>
                  <c:pt idx="2">
                    <c:v>2024-03</c:v>
                  </c:pt>
                  <c:pt idx="3">
                    <c:v>2024-04</c:v>
                  </c:pt>
                  <c:pt idx="4">
                    <c:v>2024-05</c:v>
                  </c:pt>
                  <c:pt idx="5">
                    <c:v>2024-06</c:v>
                  </c:pt>
                  <c:pt idx="6">
                    <c:v>2024-07</c:v>
                  </c:pt>
                  <c:pt idx="7">
                    <c:v>2024-08</c:v>
                  </c:pt>
                  <c:pt idx="8">
                    <c:v>2024-09</c:v>
                  </c:pt>
                  <c:pt idx="9">
                    <c:v>2024-10</c:v>
                  </c:pt>
                  <c:pt idx="10">
                    <c:v>2024-11</c:v>
                  </c:pt>
                  <c:pt idx="11">
                    <c:v>2024-12</c:v>
                  </c:pt>
                  <c:pt idx="12">
                    <c:v>2025-01</c:v>
                  </c:pt>
                  <c:pt idx="13">
                    <c:v>2025-02</c:v>
                  </c:pt>
                  <c:pt idx="14">
                    <c:v>2025-03</c:v>
                  </c:pt>
                  <c:pt idx="15">
                    <c:v>2025-04</c:v>
                  </c:pt>
                  <c:pt idx="16">
                    <c:v>2025-05</c:v>
                  </c:pt>
                  <c:pt idx="17">
                    <c:v>2025-06</c:v>
                  </c:pt>
                  <c:pt idx="18">
                    <c:v>2025-07</c:v>
                  </c:pt>
                  <c:pt idx="19">
                    <c:v>2025-08</c:v>
                  </c:pt>
                  <c:pt idx="20">
                    <c:v>2025-09</c:v>
                  </c:pt>
                  <c:pt idx="21">
                    <c:v>2025-10</c:v>
                  </c:pt>
                  <c:pt idx="22">
                    <c:v>2025-11</c:v>
                  </c:pt>
                  <c:pt idx="23">
                    <c:v>2025-12</c:v>
                  </c:pt>
                  <c:pt idx="24">
                    <c:v>2026-01</c:v>
                  </c:pt>
                  <c:pt idx="25">
                    <c:v>2026-02</c:v>
                  </c:pt>
                  <c:pt idx="26">
                    <c:v>2026-03</c:v>
                  </c:pt>
                  <c:pt idx="27">
                    <c:v>2026-04</c:v>
                  </c:pt>
                  <c:pt idx="28">
                    <c:v>2026-05</c:v>
                  </c:pt>
                  <c:pt idx="29">
                    <c:v>2026-06</c:v>
                  </c:pt>
                </c:lvl>
              </c:multiLvlStrCache>
            </c:multiLvlStrRef>
          </c:cat>
          <c:val>
            <c:numRef>
              <c:f>Sheet1!$B$2:$B$31</c:f>
              <c:numCache>
                <c:formatCode>General</c:formatCode>
                <c:ptCount val="30"/>
                <c:pt idx="0">
                  <c:v>106275</c:v>
                </c:pt>
                <c:pt idx="1">
                  <c:v>97699</c:v>
                </c:pt>
                <c:pt idx="2">
                  <c:v>114276</c:v>
                </c:pt>
                <c:pt idx="3">
                  <c:v>102296</c:v>
                </c:pt>
                <c:pt idx="4">
                  <c:v>107588</c:v>
                </c:pt>
                <c:pt idx="5">
                  <c:v>100915</c:v>
                </c:pt>
                <c:pt idx="6">
                  <c:v>113782</c:v>
                </c:pt>
                <c:pt idx="7">
                  <c:v>109730</c:v>
                </c:pt>
                <c:pt idx="8">
                  <c:v>100371</c:v>
                </c:pt>
                <c:pt idx="9">
                  <c:v>103690</c:v>
                </c:pt>
                <c:pt idx="10">
                  <c:v>105022</c:v>
                </c:pt>
                <c:pt idx="11">
                  <c:v>107186</c:v>
                </c:pt>
                <c:pt idx="12">
                  <c:v>102760</c:v>
                </c:pt>
                <c:pt idx="13">
                  <c:v>95814</c:v>
                </c:pt>
                <c:pt idx="14">
                  <c:v>103348</c:v>
                </c:pt>
                <c:pt idx="15">
                  <c:v>101601</c:v>
                </c:pt>
                <c:pt idx="16">
                  <c:v>112845</c:v>
                </c:pt>
                <c:pt idx="17">
                  <c:v>111270</c:v>
                </c:pt>
                <c:pt idx="18">
                  <c:v>105046</c:v>
                </c:pt>
                <c:pt idx="19">
                  <c:v>105531</c:v>
                </c:pt>
                <c:pt idx="20">
                  <c:v>104634</c:v>
                </c:pt>
                <c:pt idx="21">
                  <c:v>107176</c:v>
                </c:pt>
                <c:pt idx="22">
                  <c:v>114515</c:v>
                </c:pt>
                <c:pt idx="23">
                  <c:v>100500</c:v>
                </c:pt>
                <c:pt idx="24">
                  <c:v>107916</c:v>
                </c:pt>
                <c:pt idx="25">
                  <c:v>64657</c:v>
                </c:pt>
                <c:pt idx="26">
                  <c:v>71492</c:v>
                </c:pt>
                <c:pt idx="27">
                  <c:v>75175</c:v>
                </c:pt>
                <c:pt idx="28">
                  <c:v>75185</c:v>
                </c:pt>
                <c:pt idx="29">
                  <c:v>70170</c:v>
                </c:pt>
              </c:numCache>
            </c:numRef>
          </c:val>
          <c:smooth val="0"/>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200000"/>
          <a:lstStyle/>
          <a:p>
            <a:pPr>
              <a:defRPr sz="9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140000"/>
          <c:min val="0"/>
        </c:scaling>
        <c:delete val="0"/>
        <c:axPos val="l"/>
        <c:majorGridlines>
          <c:spPr>
            <a:ln w="9525" cap="flat">
              <a:solidFill>
                <a:srgbClr val="ECEEF2"/>
              </a:solidFill>
              <a:prstDash val="solid"/>
              <a:round/>
            </a:ln>
          </c:spPr>
        </c:majorGridlines>
        <c:numFmt formatCode="&quot;R&quot;#,##0,&quot;k&quot;"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2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revenue</c:v>
                </c:pt>
              </c:strCache>
            </c:strRef>
          </c:tx>
          <c:spPr>
            <a:solidFill>
              <a:srgbClr val="00133B"/>
            </a:solidFill>
            <a:effectLst/>
          </c:spPr>
          <c:invertIfNegative val="0"/>
          <c:dLbls>
            <c:numFmt formatCode="&quot;R&quot;#,##0,&quot;k&quot;"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00133B"/>
              </a:solidFill>
              <a:effectLst/>
            </c:spPr>
          </c:dPt>
          <c:dPt>
            <c:idx val="1"/>
            <c:invertIfNegative val="0"/>
            <c:bubble3D val="0"/>
            <c:spPr>
              <a:solidFill>
                <a:srgbClr val="00133B"/>
              </a:solidFill>
              <a:effectLst/>
            </c:spPr>
          </c:dPt>
          <c:dPt>
            <c:idx val="2"/>
            <c:invertIfNegative val="0"/>
            <c:bubble3D val="0"/>
            <c:spPr>
              <a:solidFill>
                <a:srgbClr val="00133B"/>
              </a:solidFill>
              <a:effectLst/>
            </c:spPr>
          </c:dPt>
          <c:dPt>
            <c:idx val="3"/>
            <c:invertIfNegative val="0"/>
            <c:bubble3D val="0"/>
            <c:spPr>
              <a:solidFill>
                <a:srgbClr val="00133B"/>
              </a:solidFill>
              <a:effectLst/>
            </c:spPr>
          </c:dPt>
          <c:dPt>
            <c:idx val="4"/>
            <c:invertIfNegative val="0"/>
            <c:bubble3D val="0"/>
            <c:spPr>
              <a:solidFill>
                <a:srgbClr val="00133B"/>
              </a:solidFill>
              <a:effectLst/>
            </c:spPr>
          </c:dPt>
          <c:dPt>
            <c:idx val="5"/>
            <c:invertIfNegative val="0"/>
            <c:bubble3D val="0"/>
            <c:spPr>
              <a:solidFill>
                <a:srgbClr val="00133B"/>
              </a:solidFill>
              <a:effectLst/>
            </c:spPr>
          </c:dPt>
          <c:dPt>
            <c:idx val="6"/>
            <c:invertIfNegative val="0"/>
            <c:bubble3D val="0"/>
            <c:spPr>
              <a:solidFill>
                <a:srgbClr val="00133B"/>
              </a:solidFill>
              <a:effectLst/>
            </c:spPr>
          </c:dPt>
          <c:dPt>
            <c:idx val="7"/>
            <c:invertIfNegative val="0"/>
            <c:bubble3D val="0"/>
            <c:spPr>
              <a:solidFill>
                <a:srgbClr val="00133B"/>
              </a:solidFill>
              <a:effectLst/>
            </c:spPr>
          </c:dPt>
          <c:dPt>
            <c:idx val="8"/>
            <c:invertIfNegative val="0"/>
            <c:bubble3D val="0"/>
            <c:spPr>
              <a:solidFill>
                <a:srgbClr val="EF7E29"/>
              </a:solidFill>
              <a:effectLst/>
            </c:spPr>
          </c:dPt>
          <c:dPt>
            <c:idx val="9"/>
            <c:invertIfNegative val="0"/>
            <c:bubble3D val="0"/>
            <c:spPr>
              <a:solidFill>
                <a:srgbClr val="EF7E29"/>
              </a:solidFill>
              <a:effectLst/>
            </c:spPr>
          </c:dPt>
          <c:cat>
            <c:multiLvlStrRef>
              <c:f>Sheet1!$A$2:$A$11</c:f>
              <c:multiLvlStrCache>
                <c:ptCount val="10"/>
                <c:lvl>
                  <c:pt idx="0">
                    <c:v>Q1 2024</c:v>
                  </c:pt>
                  <c:pt idx="1">
                    <c:v>Q2 2024</c:v>
                  </c:pt>
                  <c:pt idx="2">
                    <c:v>Q3 2024</c:v>
                  </c:pt>
                  <c:pt idx="3">
                    <c:v>Q4 2024</c:v>
                  </c:pt>
                  <c:pt idx="4">
                    <c:v>Q1 2025</c:v>
                  </c:pt>
                  <c:pt idx="5">
                    <c:v>Q2 2025</c:v>
                  </c:pt>
                  <c:pt idx="6">
                    <c:v>Q3 2025</c:v>
                  </c:pt>
                  <c:pt idx="7">
                    <c:v>Q4 2025</c:v>
                  </c:pt>
                  <c:pt idx="8">
                    <c:v>Q1 2026</c:v>
                  </c:pt>
                  <c:pt idx="9">
                    <c:v>Q2 2026</c:v>
                  </c:pt>
                </c:lvl>
              </c:multiLvlStrCache>
            </c:multiLvlStrRef>
          </c:cat>
          <c:val>
            <c:numRef>
              <c:f>Sheet1!$B$2:$B$11</c:f>
              <c:numCache>
                <c:formatCode>General</c:formatCode>
                <c:ptCount val="10"/>
                <c:pt idx="0">
                  <c:v>318250</c:v>
                </c:pt>
                <c:pt idx="1">
                  <c:v>310800</c:v>
                </c:pt>
                <c:pt idx="2">
                  <c:v>323883</c:v>
                </c:pt>
                <c:pt idx="3">
                  <c:v>315897</c:v>
                </c:pt>
                <c:pt idx="4">
                  <c:v>301922</c:v>
                </c:pt>
                <c:pt idx="5">
                  <c:v>325716</c:v>
                </c:pt>
                <c:pt idx="6">
                  <c:v>315211</c:v>
                </c:pt>
                <c:pt idx="7">
                  <c:v>322191</c:v>
                </c:pt>
                <c:pt idx="8">
                  <c:v>244065</c:v>
                </c:pt>
                <c:pt idx="9">
                  <c:v>220530</c:v>
                </c:pt>
              </c:numCache>
            </c:numRef>
          </c:val>
        </c:ser>
        <c:dLbls>
          <c:numFmt formatCode="&quot;R&quot;#,##0,&quot;k&quot;"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400000"/>
          <c:min val="0"/>
        </c:scaling>
        <c:delete val="0"/>
        <c:axPos val="l"/>
        <c:majorGridlines>
          <c:spPr>
            <a:ln w="9525" cap="flat">
              <a:solidFill>
                <a:srgbClr val="ECEEF2"/>
              </a:solidFill>
              <a:prstDash val="solid"/>
              <a:round/>
            </a:ln>
          </c:spPr>
        </c:majorGridlines>
        <c:numFmt formatCode="&quot;R&quot;#,##0,&quot;k&quot;"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1000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revenue per day</c:v>
                </c:pt>
              </c:strCache>
            </c:strRef>
          </c:tx>
          <c:spPr>
            <a:solidFill>
              <a:srgbClr val="00133B"/>
            </a:solidFill>
            <a:effectLst/>
          </c:spPr>
          <c:invertIfNegative val="0"/>
          <c:dLbls>
            <c:numFmt formatCode="&quot;R&quot;#,##0" sourceLinked="0"/>
            <c:txPr>
              <a:bodyPr/>
              <a:lstStyle/>
              <a:p>
                <a:pPr>
                  <a:defRPr b="0" i="0" strike="noStrike" sz="120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00133B"/>
              </a:solidFill>
              <a:effectLst/>
            </c:spPr>
          </c:dPt>
          <c:dPt>
            <c:idx val="1"/>
            <c:invertIfNegative val="0"/>
            <c:bubble3D val="0"/>
            <c:spPr>
              <a:solidFill>
                <a:srgbClr val="00133B"/>
              </a:solidFill>
              <a:effectLst/>
            </c:spPr>
          </c:dPt>
          <c:dPt>
            <c:idx val="2"/>
            <c:invertIfNegative val="0"/>
            <c:bubble3D val="0"/>
            <c:spPr>
              <a:solidFill>
                <a:srgbClr val="00133B"/>
              </a:solidFill>
              <a:effectLst/>
            </c:spPr>
          </c:dPt>
          <c:dPt>
            <c:idx val="3"/>
            <c:invertIfNegative val="0"/>
            <c:bubble3D val="0"/>
            <c:spPr>
              <a:solidFill>
                <a:srgbClr val="00133B"/>
              </a:solidFill>
              <a:effectLst/>
            </c:spPr>
          </c:dPt>
          <c:dPt>
            <c:idx val="4"/>
            <c:invertIfNegative val="0"/>
            <c:bubble3D val="0"/>
            <c:spPr>
              <a:solidFill>
                <a:srgbClr val="F8A91A"/>
              </a:solidFill>
              <a:effectLst/>
            </c:spPr>
          </c:dPt>
          <c:dPt>
            <c:idx val="5"/>
            <c:invertIfNegative val="0"/>
            <c:bubble3D val="0"/>
            <c:spPr>
              <a:solidFill>
                <a:srgbClr val="EF7E29"/>
              </a:solidFill>
              <a:effectLst/>
            </c:spPr>
          </c:dPt>
          <c:dPt>
            <c:idx val="6"/>
            <c:invertIfNegative val="0"/>
            <c:bubble3D val="0"/>
            <c:spPr>
              <a:solidFill>
                <a:srgbClr val="EF7E29"/>
              </a:solidFill>
              <a:effectLst/>
            </c:spPr>
          </c:dPt>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3298</c:v>
                </c:pt>
                <c:pt idx="1">
                  <c:v>3292</c:v>
                </c:pt>
                <c:pt idx="2">
                  <c:v>3204</c:v>
                </c:pt>
                <c:pt idx="3">
                  <c:v>3254</c:v>
                </c:pt>
                <c:pt idx="4">
                  <c:v>3511</c:v>
                </c:pt>
                <c:pt idx="5">
                  <c:v>3794</c:v>
                </c:pt>
                <c:pt idx="6">
                  <c:v>3917</c:v>
                </c:pt>
              </c:numCache>
            </c:numRef>
          </c:val>
        </c:ser>
        <c:dLbls>
          <c:numFmt formatCode="&quot;R&quot;#,##0" sourceLinked="0"/>
          <c:txPr>
            <a:bodyPr/>
            <a:lstStyle/>
            <a:p>
              <a:pPr>
                <a:defRPr b="0" i="0" strike="noStrike" sz="120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4500"/>
          <c:min val="0"/>
        </c:scaling>
        <c:delete val="0"/>
        <c:axPos val="l"/>
        <c:majorGridlines>
          <c:spPr>
            <a:ln w="9525" cap="flat">
              <a:solidFill>
                <a:srgbClr val="ECEEF2"/>
              </a:solidFill>
              <a:prstDash val="solid"/>
              <a:round/>
            </a:ln>
          </c:spPr>
        </c:majorGridlines>
        <c:numFmt formatCode="&quot;R&quot;#,##0"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revenue</c:v>
                </c:pt>
              </c:strCache>
            </c:strRef>
          </c:tx>
          <c:spPr>
            <a:solidFill>
              <a:srgbClr val="EF7E29"/>
            </a:solidFill>
            <a:effectLst/>
          </c:spPr>
          <c:invertIfNegative val="0"/>
          <c:dLbls>
            <c:numFmt formatCode="0.0&quot;%&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Electronics</c:v>
                  </c:pt>
                  <c:pt idx="1">
                    <c:v>Accessories</c:v>
                  </c:pt>
                  <c:pt idx="2">
                    <c:v>Home Office</c:v>
                  </c:pt>
                  <c:pt idx="3">
                    <c:v>Wearables</c:v>
                  </c:pt>
                  <c:pt idx="4">
                    <c:v>Gaming</c:v>
                  </c:pt>
                  <c:pt idx="5">
                    <c:v>Stationery</c:v>
                  </c:pt>
                </c:lvl>
              </c:multiLvlStrCache>
            </c:multiLvlStrRef>
          </c:cat>
          <c:val>
            <c:numRef>
              <c:f>Sheet1!$B$2:$B$7</c:f>
              <c:numCache>
                <c:formatCode>General</c:formatCode>
                <c:ptCount val="6"/>
                <c:pt idx="0">
                  <c:v>50.6</c:v>
                </c:pt>
                <c:pt idx="1">
                  <c:v>16.1</c:v>
                </c:pt>
                <c:pt idx="2">
                  <c:v>13</c:v>
                </c:pt>
                <c:pt idx="3">
                  <c:v>12.6</c:v>
                </c:pt>
                <c:pt idx="4">
                  <c:v>5.8</c:v>
                </c:pt>
                <c:pt idx="5">
                  <c:v>1.9</c:v>
                </c:pt>
              </c:numCache>
            </c:numRef>
          </c:val>
        </c:ser>
        <c:ser>
          <c:idx val="1"/>
          <c:order val="1"/>
          <c:tx>
            <c:strRef>
              <c:f>Sheet1!$C$1</c:f>
              <c:strCache>
                <c:ptCount val="1"/>
                <c:pt idx="0">
                  <c:v>Share of units sold</c:v>
                </c:pt>
              </c:strCache>
            </c:strRef>
          </c:tx>
          <c:spPr>
            <a:solidFill>
              <a:srgbClr val="00133B"/>
            </a:solidFill>
            <a:effectLst/>
          </c:spPr>
          <c:invertIfNegative val="0"/>
          <c:dLbls>
            <c:numFmt formatCode="0.0&quot;%&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Electronics</c:v>
                  </c:pt>
                  <c:pt idx="1">
                    <c:v>Accessories</c:v>
                  </c:pt>
                  <c:pt idx="2">
                    <c:v>Home Office</c:v>
                  </c:pt>
                  <c:pt idx="3">
                    <c:v>Wearables</c:v>
                  </c:pt>
                  <c:pt idx="4">
                    <c:v>Gaming</c:v>
                  </c:pt>
                  <c:pt idx="5">
                    <c:v>Stationery</c:v>
                  </c:pt>
                </c:lvl>
              </c:multiLvlStrCache>
            </c:multiLvlStrRef>
          </c:cat>
          <c:val>
            <c:numRef>
              <c:f>Sheet1!$C$2:$C$7</c:f>
              <c:numCache>
                <c:formatCode>General</c:formatCode>
                <c:ptCount val="6"/>
                <c:pt idx="0">
                  <c:v>35.6</c:v>
                </c:pt>
                <c:pt idx="1">
                  <c:v>37.3</c:v>
                </c:pt>
                <c:pt idx="2">
                  <c:v>6.4</c:v>
                </c:pt>
                <c:pt idx="3">
                  <c:v>6.2</c:v>
                </c:pt>
                <c:pt idx="4">
                  <c:v>3.4</c:v>
                </c:pt>
                <c:pt idx="5">
                  <c:v>11</c:v>
                </c:pt>
              </c:numCache>
            </c:numRef>
          </c:val>
        </c:ser>
        <c:dLbls>
          <c:numFmt formatCode="0.0&quot;%&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CEEF2"/>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Net revenue</c:v>
                </c:pt>
              </c:strCache>
            </c:strRef>
          </c:tx>
          <c:spPr>
            <a:solidFill>
              <a:srgbClr val="EF7E29"/>
            </a:solidFill>
            <a:effectLst/>
          </c:spPr>
          <c:invertIfNegative val="0"/>
          <c:dLbls>
            <c:numFmt formatCode="&quot;R&quot;#,##0,&quot;k&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Headphones</c:v>
                  </c:pt>
                  <c:pt idx="1">
                    <c:v>Office Chair</c:v>
                  </c:pt>
                  <c:pt idx="2">
                    <c:v>Tablet</c:v>
                  </c:pt>
                  <c:pt idx="3">
                    <c:v>Smart Watch</c:v>
                  </c:pt>
                  <c:pt idx="4">
                    <c:v>Microphone</c:v>
                  </c:pt>
                  <c:pt idx="5">
                    <c:v>Mechanical Keyboard</c:v>
                  </c:pt>
                  <c:pt idx="6">
                    <c:v>Bluetooth Speaker</c:v>
                  </c:pt>
                  <c:pt idx="7">
                    <c:v>Gaming Controller</c:v>
                  </c:pt>
                  <c:pt idx="8">
                    <c:v>Power Bank</c:v>
                  </c:pt>
                  <c:pt idx="9">
                    <c:v>Fitness Band</c:v>
                  </c:pt>
                </c:lvl>
              </c:multiLvlStrCache>
            </c:multiLvlStrRef>
          </c:cat>
          <c:val>
            <c:numRef>
              <c:f>Sheet1!$B$2:$B$11</c:f>
              <c:numCache>
                <c:formatCode>General</c:formatCode>
                <c:ptCount val="10"/>
                <c:pt idx="0">
                  <c:v>292916</c:v>
                </c:pt>
                <c:pt idx="1">
                  <c:v>288522</c:v>
                </c:pt>
                <c:pt idx="2">
                  <c:v>244699</c:v>
                </c:pt>
                <c:pt idx="3">
                  <c:v>224610</c:v>
                </c:pt>
                <c:pt idx="4">
                  <c:v>204157</c:v>
                </c:pt>
                <c:pt idx="5">
                  <c:v>195139</c:v>
                </c:pt>
                <c:pt idx="6">
                  <c:v>184434</c:v>
                </c:pt>
                <c:pt idx="7">
                  <c:v>174260</c:v>
                </c:pt>
                <c:pt idx="8">
                  <c:v>155598</c:v>
                </c:pt>
                <c:pt idx="9">
                  <c:v>151701</c:v>
                </c:pt>
              </c:numCache>
            </c:numRef>
          </c:val>
        </c:ser>
        <c:dLbls>
          <c:numFmt formatCode="&quot;R&quot;#,##0,&quot;k&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36000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Units sold</c:v>
                </c:pt>
              </c:strCache>
            </c:strRef>
          </c:tx>
          <c:spPr>
            <a:solidFill>
              <a:srgbClr val="00133B"/>
            </a:solidFill>
            <a:effectLst/>
          </c:spPr>
          <c:invertIfNegative val="0"/>
          <c:dLbls>
            <c:numFmt formatCode="#,##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Notebook</c:v>
                  </c:pt>
                  <c:pt idx="1">
                    <c:v>Phone Case</c:v>
                  </c:pt>
                  <c:pt idx="2">
                    <c:v>USB-C Cable</c:v>
                  </c:pt>
                  <c:pt idx="3">
                    <c:v>HDMI Cable</c:v>
                  </c:pt>
                  <c:pt idx="4">
                    <c:v>Wireless Mouse</c:v>
                  </c:pt>
                  <c:pt idx="5">
                    <c:v>Power Bank</c:v>
                  </c:pt>
                  <c:pt idx="6">
                    <c:v>Headphones</c:v>
                  </c:pt>
                  <c:pt idx="7">
                    <c:v>Backpack</c:v>
                  </c:pt>
                  <c:pt idx="8">
                    <c:v>Laptop Stand</c:v>
                  </c:pt>
                  <c:pt idx="9">
                    <c:v>Desk Lamp</c:v>
                  </c:pt>
                </c:lvl>
              </c:multiLvlStrCache>
            </c:multiLvlStrRef>
          </c:cat>
          <c:val>
            <c:numRef>
              <c:f>Sheet1!$B$2:$B$11</c:f>
              <c:numCache>
                <c:formatCode>General</c:formatCode>
                <c:ptCount val="10"/>
                <c:pt idx="0">
                  <c:v>8907</c:v>
                </c:pt>
                <c:pt idx="1">
                  <c:v>8270</c:v>
                </c:pt>
                <c:pt idx="2">
                  <c:v>7766</c:v>
                </c:pt>
                <c:pt idx="3">
                  <c:v>6480</c:v>
                </c:pt>
                <c:pt idx="4">
                  <c:v>5262</c:v>
                </c:pt>
                <c:pt idx="5">
                  <c:v>4807</c:v>
                </c:pt>
                <c:pt idx="6">
                  <c:v>4217</c:v>
                </c:pt>
                <c:pt idx="7">
                  <c:v>3855</c:v>
                </c:pt>
                <c:pt idx="8">
                  <c:v>3730</c:v>
                </c:pt>
                <c:pt idx="9">
                  <c:v>3440</c:v>
                </c:pt>
              </c:numCache>
            </c:numRef>
          </c:val>
        </c:ser>
        <c:dLbls>
          <c:numFmt formatCode="#,##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1080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Net revenue</c:v>
                </c:pt>
              </c:strCache>
            </c:strRef>
          </c:tx>
          <c:spPr>
            <a:solidFill>
              <a:srgbClr val="EF7E29"/>
            </a:solidFill>
            <a:effectLst/>
          </c:spPr>
          <c:invertIfNegative val="0"/>
          <c:dLbls>
            <c:numFmt formatCode="&quot;R&quot;#,##0,&quot;k&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Sheet1!$A$2:$A$12</c:f>
              <c:multiLvlStrCache>
                <c:ptCount val="11"/>
                <c:lvl>
                  <c:pt idx="0">
                    <c:v>Tehran</c:v>
                  </c:pt>
                  <c:pt idx="1">
                    <c:v>Mashhad</c:v>
                  </c:pt>
                  <c:pt idx="2">
                    <c:v>Karaj</c:v>
                  </c:pt>
                  <c:pt idx="3">
                    <c:v>Isfahan</c:v>
                  </c:pt>
                  <c:pt idx="4">
                    <c:v>Shiraz</c:v>
                  </c:pt>
                  <c:pt idx="5">
                    <c:v>Tabriz</c:v>
                  </c:pt>
                  <c:pt idx="6">
                    <c:v>Ahvaz</c:v>
                  </c:pt>
                  <c:pt idx="7">
                    <c:v>Rasht</c:v>
                  </c:pt>
                  <c:pt idx="8">
                    <c:v>Kerman</c:v>
                  </c:pt>
                  <c:pt idx="9">
                    <c:v>Qom</c:v>
                  </c:pt>
                  <c:pt idx="10">
                    <c:v>Unknown</c:v>
                  </c:pt>
                </c:lvl>
              </c:multiLvlStrCache>
            </c:multiLvlStrRef>
          </c:cat>
          <c:val>
            <c:numRef>
              <c:f>Sheet1!$B$2:$B$12</c:f>
              <c:numCache>
                <c:formatCode>General</c:formatCode>
                <c:ptCount val="11"/>
                <c:pt idx="0">
                  <c:v>824412</c:v>
                </c:pt>
                <c:pt idx="1">
                  <c:v>377857</c:v>
                </c:pt>
                <c:pt idx="2">
                  <c:v>298562</c:v>
                </c:pt>
                <c:pt idx="3">
                  <c:v>288588</c:v>
                </c:pt>
                <c:pt idx="4">
                  <c:v>272621</c:v>
                </c:pt>
                <c:pt idx="5">
                  <c:v>254021</c:v>
                </c:pt>
                <c:pt idx="6">
                  <c:v>178406</c:v>
                </c:pt>
                <c:pt idx="7">
                  <c:v>171931</c:v>
                </c:pt>
                <c:pt idx="8">
                  <c:v>148474</c:v>
                </c:pt>
                <c:pt idx="9">
                  <c:v>141536</c:v>
                </c:pt>
                <c:pt idx="10">
                  <c:v>42056</c:v>
                </c:pt>
              </c:numCache>
            </c:numRef>
          </c:val>
        </c:ser>
        <c:dLbls>
          <c:numFmt formatCode="&quot;R&quot;#,##0,&quot;k&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95000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00133B"/>
              </a:solidFill>
              <a:effectLst/>
            </c:spPr>
          </c:dPt>
          <c:dPt>
            <c:idx val="1"/>
            <c:bubble3D val="0"/>
            <c:spPr>
              <a:solidFill>
                <a:srgbClr val="EF7E29"/>
              </a:solidFill>
              <a:effectLst/>
            </c:spPr>
          </c:dPt>
          <c:dPt>
            <c:idx val="2"/>
            <c:bubble3D val="0"/>
            <c:spPr>
              <a:solidFill>
                <a:srgbClr val="F8A91A"/>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Completed 92.0%</c:v>
                </c:pt>
                <c:pt idx="1">
                  <c:v>Cancelled 4.9%</c:v>
                </c:pt>
                <c:pt idx="2">
                  <c:v>Returned 3.1%</c:v>
                </c:pt>
              </c:strCache>
            </c:strRef>
          </c:cat>
          <c:val>
            <c:numRef>
              <c:f>Sheet1!$B$2:$B$4</c:f>
              <c:numCache>
                <c:ptCount val="3"/>
                <c:pt idx="0">
                  <c:v>45996</c:v>
                </c:pt>
                <c:pt idx="1">
                  <c:v>2472</c:v>
                </c:pt>
                <c:pt idx="2">
                  <c:v>1532</c:v>
                </c:pt>
              </c:numCache>
            </c:numRef>
          </c:val>
        </c:ser>
        <c:firstSliceAng val="0"/>
        <c:holeSize val="55"/>
      </c:doughnutChart>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Failure rate</c:v>
                </c:pt>
              </c:strCache>
            </c:strRef>
          </c:tx>
          <c:spPr>
            <a:solidFill>
              <a:srgbClr val="F8A91A"/>
            </a:solidFill>
            <a:effectLst/>
          </c:spPr>
          <c:invertIfNegative val="0"/>
          <c:dLbls>
            <c:numFmt formatCode="0.0&quot;%&quot;" sourceLinked="0"/>
            <c:txPr>
              <a:bodyPr/>
              <a:lstStyle/>
              <a:p>
                <a:pPr>
                  <a:defRPr b="0" i="0" strike="noStrike" sz="1200" u="none">
                    <a:solidFill>
                      <a:srgbClr val="2222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Cash</c:v>
                  </c:pt>
                  <c:pt idx="1">
                    <c:v>Wallet</c:v>
                  </c:pt>
                  <c:pt idx="2">
                    <c:v>Gateway</c:v>
                  </c:pt>
                  <c:pt idx="3">
                    <c:v>CardToCard</c:v>
                  </c:pt>
                  <c:pt idx="4">
                    <c:v>Unknown</c:v>
                  </c:pt>
                </c:lvl>
              </c:multiLvlStrCache>
            </c:multiLvlStrRef>
          </c:cat>
          <c:val>
            <c:numRef>
              <c:f>Sheet1!$B$2:$B$6</c:f>
              <c:numCache>
                <c:formatCode>General</c:formatCode>
                <c:ptCount val="5"/>
                <c:pt idx="0">
                  <c:v>3.64</c:v>
                </c:pt>
                <c:pt idx="1">
                  <c:v>3.86</c:v>
                </c:pt>
                <c:pt idx="2">
                  <c:v>3.86</c:v>
                </c:pt>
                <c:pt idx="3">
                  <c:v>3.89</c:v>
                </c:pt>
                <c:pt idx="4">
                  <c:v>4</c:v>
                </c:pt>
              </c:numCache>
            </c:numRef>
          </c:val>
        </c:ser>
        <c:dLbls>
          <c:numFmt formatCode="0.0&quot;%&quot;" sourceLinked="0"/>
          <c:txPr>
            <a:bodyPr/>
            <a:lstStyle/>
            <a:p>
              <a:pPr>
                <a:defRPr b="0" i="0" strike="noStrike" sz="1200" u="none">
                  <a:solidFill>
                    <a:srgbClr val="222222"/>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CEEF2"/>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quantity</c:v>
                </c:pt>
              </c:strCache>
            </c:strRef>
          </c:tx>
          <c:spPr>
            <a:solidFill>
              <a:srgbClr val="00133B"/>
            </a:solidFill>
            <a:effectLst/>
          </c:spPr>
          <c:invertIfNegative val="0"/>
          <c:dLbls>
            <c:numFmt formatCode="0.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0%</c:v>
                  </c:pt>
                  <c:pt idx="1">
                    <c:v>5%</c:v>
                  </c:pt>
                  <c:pt idx="2">
                    <c:v>10%</c:v>
                  </c:pt>
                  <c:pt idx="3">
                    <c:v>15%</c:v>
                  </c:pt>
                  <c:pt idx="4">
                    <c:v>20%</c:v>
                  </c:pt>
                  <c:pt idx="5">
                    <c:v>30%</c:v>
                  </c:pt>
                </c:lvl>
              </c:multiLvlStrCache>
            </c:multiLvlStrRef>
          </c:cat>
          <c:val>
            <c:numRef>
              <c:f>Sheet1!$B$2:$B$7</c:f>
              <c:numCache>
                <c:formatCode>General</c:formatCode>
                <c:ptCount val="6"/>
                <c:pt idx="0">
                  <c:v>1.87</c:v>
                </c:pt>
                <c:pt idx="1">
                  <c:v>1.9</c:v>
                </c:pt>
                <c:pt idx="2">
                  <c:v>1.89</c:v>
                </c:pt>
                <c:pt idx="3">
                  <c:v>1.88</c:v>
                </c:pt>
                <c:pt idx="4">
                  <c:v>1.88</c:v>
                </c:pt>
                <c:pt idx="5">
                  <c:v>1.88</c:v>
                </c:pt>
              </c:numCache>
            </c:numRef>
          </c:val>
        </c:ser>
        <c:dLbls>
          <c:numFmt formatCode="0.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CEEF2"/>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revenue per order</c:v>
                </c:pt>
              </c:strCache>
            </c:strRef>
          </c:tx>
          <c:spPr>
            <a:solidFill>
              <a:srgbClr val="EF7E29"/>
            </a:solidFill>
            <a:effectLst/>
          </c:spPr>
          <c:invertIfNegative val="0"/>
          <c:dLbls>
            <c:numFmt formatCode="&quot;R&quot;#,##0.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0%</c:v>
                  </c:pt>
                  <c:pt idx="1">
                    <c:v>5%</c:v>
                  </c:pt>
                  <c:pt idx="2">
                    <c:v>10%</c:v>
                  </c:pt>
                  <c:pt idx="3">
                    <c:v>15%</c:v>
                  </c:pt>
                  <c:pt idx="4">
                    <c:v>20%</c:v>
                  </c:pt>
                  <c:pt idx="5">
                    <c:v>30%</c:v>
                  </c:pt>
                </c:lvl>
              </c:multiLvlStrCache>
            </c:multiLvlStrRef>
          </c:cat>
          <c:val>
            <c:numRef>
              <c:f>Sheet1!$B$2:$B$7</c:f>
              <c:numCache>
                <c:formatCode>General</c:formatCode>
                <c:ptCount val="6"/>
                <c:pt idx="0">
                  <c:v>74.98</c:v>
                </c:pt>
                <c:pt idx="1">
                  <c:v>71.78</c:v>
                </c:pt>
                <c:pt idx="2">
                  <c:v>68.74</c:v>
                </c:pt>
                <c:pt idx="3">
                  <c:v>64.6</c:v>
                </c:pt>
                <c:pt idx="4">
                  <c:v>61.59</c:v>
                </c:pt>
                <c:pt idx="5">
                  <c:v>55.65</c:v>
                </c:pt>
              </c:numCache>
            </c:numRef>
          </c:val>
        </c:ser>
        <c:dLbls>
          <c:numFmt formatCode="&quot;R&quot;#,##0.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CEEF2"/>
              </a:solidFill>
              <a:prstDash val="solid"/>
              <a:round/>
            </a:ln>
          </c:spPr>
        </c:majorGridlines>
        <c:numFmt formatCode="&quot;R&quot;#,##0" sourceLinked="0"/>
        <c:majorTickMark val="out"/>
        <c:minorTickMark val="none"/>
        <c:tickLblPos val="nextTo"/>
        <c:spPr>
          <a:ln w="12700" cap="flat">
            <a:noFill/>
            <a:prstDash val="solid"/>
            <a:round/>
          </a:ln>
        </c:spPr>
        <c:txPr>
          <a:bodyPr/>
          <a:lstStyle/>
          <a:p>
            <a:pPr>
              <a:defRPr sz="1000" b="0" i="0" u="none" strike="noStrike">
                <a:solidFill>
                  <a:srgbClr val="5A6272"/>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will show how the online shop has performed over 30 months, what is working, what is not, and what I recommend we do next. I will keep the numbers simple and explain every one of them. All money amounts are in South African 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goal: understand how the shop has really performed and decide what to do about it. We looked at four sets of records and will answer six simple questions. At the end I will give three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We start with how the numbers are built, then walk through growth, products, customers, problems and discounts, and finish with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this as four spreadsheets. Customers tell us who buys, orders tell us what was bought, products give the price and category, and payments tell us whether the money arrived. They are linked by reference numbers. We cleaned the data first: removed duplicate orders, filled gaps carefully and fixed spelling.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we count money. Every order has a quantity, a price and sometimes a discount, and we multiply those together. But not every order is real income. If it was cancelled, returned, or the payment failed or was refunded, we leave it out. That takes R3.5 million of gross sales down to R3.0 million net, which is the number we use for the rest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first four numbers describe sales. Net revenue is the most important: about R3 million. We completed about 42,800 sales, an average sale is about R70, and we moved just over 80,000 items. Each card says how the number is worked out and why we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describe losses and giveaways. About 8 in every 100 orders are cancelled or returned. About 4 in every 100 payments fail. And we gave away about R288,000 in discounts, which is 7.6 percent of the full price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chart. For 25 months the line is flat: some ups and downs, but around R105,000 a month. Then in February 2026 it drops sharply to about R71,000 and stays there. Orders fell from about 1,770 a month to about 1,190. The data shows when and how big the drop is, but not why. We need to investigate, which is recommendation number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quarter by quarter confirms the story. In 2025 each quarter was within about 5 percent of the same quarter in 2024, so the business was stable. In the first quarter of 2026, revenue was 19 percent lower than a year earlier, and in the second quarter it was 32 percent lower. The second quarter is worse than the first, so this is not a one-month dip.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looked for busy and quiet times. There is a clear weekly pattern: Saturday and Sunday are the busiest days and Monday to Thursday are about equal. There is no seasonal pattern across the year, so no month is reliably busier than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shows each category's share of the money, navy shows its share of items sold. Electronics earns half the revenue. Accessories sell the most items but earn only 16 percent of revenue because each item is cheap. Stationery is 11 percent of items but under 2 percent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products ranked by money: Headphones, Office Chair and Tablet lead. On the right, ranked by number of items: Notebook, Phone Case and USB-C Cable lead. They are almost completely different lists. High-price items drive revenue, low-price items drive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Tehran earns the most, but it also has the most customers. If we divide each city's revenue by its number of customers, every city comes out at about R300. So no city is better or worse. The same is true for segments: a VIP customer is worth about R297, a regular about R299 and a new customer about R301. The VIP label does not currently identify more valuable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92 percent of orders are completed, 5 percent are cancelled and 3 percent are returned. On the right, the failure rate for each payment method. They are all about the same, between 3.6 and 4 percent. That means we should not blame one method like Cash or Wallet. If we want to reduce failures, we need to look at the whole payment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what happened to the order with what happened to the payment. The white and peach cells make sense. The orange cells do not: for example, an order that was cancelled but the payment still says Paid, or an order that was completed but the payment failed. There are 6,867 of these. Finance should check them: some customers may be owed refunds, and some deliveries may not have been paid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discounts worked, the left chart would rise: bigger discounts, more items per order. It is flat at about 1.9 items. The right chart shows what happens instead: revenue per order falls steadily, from about R75 with no discount to about R56 with a 30 percent discount. The deepest discounts cost R101,000 and bought no extra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recommendations, four honest limits. One product price looks wrong. A few dates were filled in. A small number of orders have no customer attached. And most importantly, the data tells us what happened but not why revenue fell. None of these change the main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actions I recommend. One: find out why orders dropped, because that is costing about R34,500 every month. Two: clean up the mismatches between orders and payments, which involve about R488,000 worth of orders. Three: test cutting the deepest discounts, because they cost a lot and did not increase order size. Each has a clear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here is a simple order of work and four numbers to watch. Start by investigating the drop and pulling the payment lists. Then fix payments. Then run a careful discount test. We can measure progress with the same numbers I showed today: orders per month, payment conflicts, failure rate and discount mix.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image" Target="../media/image-14-1.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33B"/>
        </a:solidFill>
      </p:bgPr>
    </p:bg>
    <p:spTree>
      <p:nvGrpSpPr>
        <p:cNvPr id="1" name=""/>
        <p:cNvGrpSpPr/>
        <p:nvPr/>
      </p:nvGrpSpPr>
      <p:grpSpPr>
        <a:xfrm>
          <a:off x="0" y="0"/>
          <a:ext cx="0" cy="0"/>
          <a:chOff x="0" y="0"/>
          <a:chExt cx="0" cy="0"/>
        </a:xfrm>
      </p:grpSpPr>
      <p:pic>
        <p:nvPicPr>
          <p:cNvPr id="2" name="Image 0" descr="Bright_Store_Analysis_logo.png">    </p:cNvPr>
          <p:cNvPicPr>
            <a:picLocks noChangeAspect="1"/>
          </p:cNvPicPr>
          <p:nvPr/>
        </p:nvPicPr>
        <p:blipFill>
          <a:blip r:embed="rId1"/>
          <a:stretch>
            <a:fillRect/>
          </a:stretch>
        </p:blipFill>
        <p:spPr>
          <a:xfrm>
            <a:off x="731520" y="640080"/>
            <a:ext cx="5303520" cy="1241506"/>
          </a:xfrm>
          <a:prstGeom prst="rect">
            <a:avLst/>
          </a:prstGeom>
        </p:spPr>
      </p:pic>
      <p:sp>
        <p:nvSpPr>
          <p:cNvPr id="3" name="Text 0"/>
          <p:cNvSpPr txBox="1"/>
          <p:nvPr/>
        </p:nvSpPr>
        <p:spPr>
          <a:xfrm>
            <a:off x="731520" y="265176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How Is the Shop Performing?</a:t>
            </a:r>
            <a:endParaRPr lang="en-US" sz="4600" dirty="0"/>
          </a:p>
        </p:txBody>
      </p:sp>
      <p:sp>
        <p:nvSpPr>
          <p:cNvPr id="4" name="Text 1"/>
          <p:cNvSpPr txBox="1"/>
          <p:nvPr/>
        </p:nvSpPr>
        <p:spPr>
          <a:xfrm>
            <a:off x="731520" y="3611880"/>
            <a:ext cx="10515600" cy="457200"/>
          </a:xfrm>
          <a:prstGeom prst="rect">
            <a:avLst/>
          </a:prstGeom>
          <a:noFill/>
          <a:ln/>
        </p:spPr>
        <p:txBody>
          <a:bodyPr wrap="square" lIns="0" tIns="0" rIns="0" bIns="0" rtlCol="0" anchor="ctr"/>
          <a:lstStyle/>
          <a:p>
            <a:pPr indent="0" marL="0">
              <a:buNone/>
            </a:pPr>
            <a:r>
              <a:rPr lang="en-US" sz="2200" dirty="0">
                <a:solidFill>
                  <a:srgbClr val="F8A91A"/>
                </a:solidFill>
                <a:latin typeface="Calibri" pitchFamily="34" charset="0"/>
                <a:ea typeface="Calibri" pitchFamily="34" charset="-122"/>
                <a:cs typeface="Calibri" pitchFamily="34" charset="-120"/>
              </a:rPr>
              <a:t>Findings and recommendations, January 2024 to June 2026</a:t>
            </a:r>
            <a:endParaRPr lang="en-US" sz="2200" dirty="0"/>
          </a:p>
        </p:txBody>
      </p:sp>
      <p:sp>
        <p:nvSpPr>
          <p:cNvPr id="5" name="Text 2"/>
          <p:cNvSpPr txBox="1"/>
          <p:nvPr/>
        </p:nvSpPr>
        <p:spPr>
          <a:xfrm>
            <a:off x="731520" y="4343400"/>
            <a:ext cx="105156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Prepared for the Head of Operations  |  All amounts are in South African Rand (R)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What we want to achieve</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A clear, honest picture of the shop's performance, and a plan for what to do next</a:t>
            </a:r>
            <a:endParaRPr lang="en-US" sz="1600" dirty="0"/>
          </a:p>
        </p:txBody>
      </p:sp>
      <p:sp>
        <p:nvSpPr>
          <p:cNvPr id="4" name="Shape 2"/>
          <p:cNvSpPr/>
          <p:nvPr/>
        </p:nvSpPr>
        <p:spPr>
          <a:xfrm>
            <a:off x="548640" y="1691640"/>
            <a:ext cx="3520440" cy="2148840"/>
          </a:xfrm>
          <a:prstGeom prst="roundRect">
            <a:avLst>
              <a:gd name="adj" fmla="val 4255"/>
            </a:avLst>
          </a:prstGeom>
          <a:solidFill>
            <a:srgbClr val="FFF4EA"/>
          </a:solidFill>
          <a:ln/>
        </p:spPr>
      </p:sp>
      <p:sp>
        <p:nvSpPr>
          <p:cNvPr id="5" name="Shape 3"/>
          <p:cNvSpPr/>
          <p:nvPr/>
        </p:nvSpPr>
        <p:spPr>
          <a:xfrm>
            <a:off x="822960" y="1874520"/>
            <a:ext cx="594360" cy="594360"/>
          </a:xfrm>
          <a:prstGeom prst="ellipse">
            <a:avLst/>
          </a:prstGeom>
          <a:solidFill>
            <a:srgbClr val="EF7E29"/>
          </a:solidFill>
          <a:ln/>
        </p:spPr>
      </p:sp>
      <p:pic>
        <p:nvPicPr>
          <p:cNvPr id="6" name="Image 0" descr="preencoded.png">    </p:cNvPr>
          <p:cNvPicPr>
            <a:picLocks noChangeAspect="1"/>
          </p:cNvPicPr>
          <p:nvPr/>
        </p:nvPicPr>
        <p:blipFill>
          <a:blip r:embed="rId1"/>
          <a:stretch>
            <a:fillRect/>
          </a:stretch>
        </p:blipFill>
        <p:spPr>
          <a:xfrm>
            <a:off x="971550" y="2023110"/>
            <a:ext cx="297180" cy="297180"/>
          </a:xfrm>
          <a:prstGeom prst="rect">
            <a:avLst/>
          </a:prstGeom>
        </p:spPr>
      </p:pic>
      <p:sp>
        <p:nvSpPr>
          <p:cNvPr id="7" name="Text 4"/>
          <p:cNvSpPr txBox="1"/>
          <p:nvPr/>
        </p:nvSpPr>
        <p:spPr>
          <a:xfrm>
            <a:off x="1554480" y="1874520"/>
            <a:ext cx="2377440" cy="59436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The question</a:t>
            </a:r>
            <a:endParaRPr lang="en-US" sz="1800" dirty="0"/>
          </a:p>
        </p:txBody>
      </p:sp>
      <p:sp>
        <p:nvSpPr>
          <p:cNvPr id="8" name="Text 5"/>
          <p:cNvSpPr txBox="1"/>
          <p:nvPr/>
        </p:nvSpPr>
        <p:spPr>
          <a:xfrm>
            <a:off x="822960" y="2606040"/>
            <a:ext cx="3017520" cy="114300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How has the shop performed between January 2024 and June 2026, and where should we act?</a:t>
            </a:r>
            <a:endParaRPr lang="en-US" sz="1400" dirty="0"/>
          </a:p>
        </p:txBody>
      </p:sp>
      <p:sp>
        <p:nvSpPr>
          <p:cNvPr id="9" name="Shape 6"/>
          <p:cNvSpPr/>
          <p:nvPr/>
        </p:nvSpPr>
        <p:spPr>
          <a:xfrm>
            <a:off x="4297680" y="1691640"/>
            <a:ext cx="3520440" cy="2148840"/>
          </a:xfrm>
          <a:prstGeom prst="roundRect">
            <a:avLst>
              <a:gd name="adj" fmla="val 4255"/>
            </a:avLst>
          </a:prstGeom>
          <a:solidFill>
            <a:srgbClr val="FFF4EA"/>
          </a:solidFill>
          <a:ln/>
        </p:spPr>
      </p:sp>
      <p:sp>
        <p:nvSpPr>
          <p:cNvPr id="10" name="Shape 7"/>
          <p:cNvSpPr/>
          <p:nvPr/>
        </p:nvSpPr>
        <p:spPr>
          <a:xfrm>
            <a:off x="4572000" y="1874520"/>
            <a:ext cx="594360" cy="594360"/>
          </a:xfrm>
          <a:prstGeom prst="ellipse">
            <a:avLst/>
          </a:prstGeom>
          <a:solidFill>
            <a:srgbClr val="EF7E29"/>
          </a:solidFill>
          <a:ln/>
        </p:spPr>
      </p:sp>
      <p:pic>
        <p:nvPicPr>
          <p:cNvPr id="11" name="Image 1" descr="preencoded.png">    </p:cNvPr>
          <p:cNvPicPr>
            <a:picLocks noChangeAspect="1"/>
          </p:cNvPicPr>
          <p:nvPr/>
        </p:nvPicPr>
        <p:blipFill>
          <a:blip r:embed="rId2"/>
          <a:stretch>
            <a:fillRect/>
          </a:stretch>
        </p:blipFill>
        <p:spPr>
          <a:xfrm>
            <a:off x="4720590" y="2023110"/>
            <a:ext cx="297180" cy="297180"/>
          </a:xfrm>
          <a:prstGeom prst="rect">
            <a:avLst/>
          </a:prstGeom>
        </p:spPr>
      </p:pic>
      <p:sp>
        <p:nvSpPr>
          <p:cNvPr id="12" name="Text 8"/>
          <p:cNvSpPr txBox="1"/>
          <p:nvPr/>
        </p:nvSpPr>
        <p:spPr>
          <a:xfrm>
            <a:off x="5303520" y="1874520"/>
            <a:ext cx="2377440" cy="59436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What we looked at</a:t>
            </a:r>
            <a:endParaRPr lang="en-US" sz="1800" dirty="0"/>
          </a:p>
        </p:txBody>
      </p:sp>
      <p:sp>
        <p:nvSpPr>
          <p:cNvPr id="13" name="Text 9"/>
          <p:cNvSpPr txBox="1"/>
          <p:nvPr/>
        </p:nvSpPr>
        <p:spPr>
          <a:xfrm>
            <a:off x="4572000" y="2606040"/>
            <a:ext cx="3017520" cy="114300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50,000 orders from 10,000 customers, 20 products and 50,000 payments, across 30 months.</a:t>
            </a:r>
            <a:endParaRPr lang="en-US" sz="1400" dirty="0"/>
          </a:p>
        </p:txBody>
      </p:sp>
      <p:sp>
        <p:nvSpPr>
          <p:cNvPr id="14" name="Shape 10"/>
          <p:cNvSpPr/>
          <p:nvPr/>
        </p:nvSpPr>
        <p:spPr>
          <a:xfrm>
            <a:off x="8046720" y="1691640"/>
            <a:ext cx="3520440" cy="2148840"/>
          </a:xfrm>
          <a:prstGeom prst="roundRect">
            <a:avLst>
              <a:gd name="adj" fmla="val 4255"/>
            </a:avLst>
          </a:prstGeom>
          <a:solidFill>
            <a:srgbClr val="FFF4EA"/>
          </a:solidFill>
          <a:ln/>
        </p:spPr>
      </p:sp>
      <p:sp>
        <p:nvSpPr>
          <p:cNvPr id="15" name="Shape 11"/>
          <p:cNvSpPr/>
          <p:nvPr/>
        </p:nvSpPr>
        <p:spPr>
          <a:xfrm>
            <a:off x="8321040" y="1874520"/>
            <a:ext cx="594360" cy="594360"/>
          </a:xfrm>
          <a:prstGeom prst="ellipse">
            <a:avLst/>
          </a:prstGeom>
          <a:solidFill>
            <a:srgbClr val="EF7E29"/>
          </a:solidFill>
          <a:ln/>
        </p:spPr>
      </p:sp>
      <p:pic>
        <p:nvPicPr>
          <p:cNvPr id="16" name="Image 2" descr="preencoded.png">    </p:cNvPr>
          <p:cNvPicPr>
            <a:picLocks noChangeAspect="1"/>
          </p:cNvPicPr>
          <p:nvPr/>
        </p:nvPicPr>
        <p:blipFill>
          <a:blip r:embed="rId3"/>
          <a:stretch>
            <a:fillRect/>
          </a:stretch>
        </p:blipFill>
        <p:spPr>
          <a:xfrm>
            <a:off x="8469630" y="2023110"/>
            <a:ext cx="297180" cy="297180"/>
          </a:xfrm>
          <a:prstGeom prst="rect">
            <a:avLst/>
          </a:prstGeom>
        </p:spPr>
      </p:pic>
      <p:sp>
        <p:nvSpPr>
          <p:cNvPr id="17" name="Text 12"/>
          <p:cNvSpPr txBox="1"/>
          <p:nvPr/>
        </p:nvSpPr>
        <p:spPr>
          <a:xfrm>
            <a:off x="9052560" y="1874520"/>
            <a:ext cx="2377440" cy="59436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What you will get</a:t>
            </a:r>
            <a:endParaRPr lang="en-US" sz="1800" dirty="0"/>
          </a:p>
        </p:txBody>
      </p:sp>
      <p:sp>
        <p:nvSpPr>
          <p:cNvPr id="18" name="Text 13"/>
          <p:cNvSpPr txBox="1"/>
          <p:nvPr/>
        </p:nvSpPr>
        <p:spPr>
          <a:xfrm>
            <a:off x="8321040" y="2606040"/>
            <a:ext cx="3017520" cy="114300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Simple numbers, clear charts, plain-language explanations and three recommendations.</a:t>
            </a:r>
            <a:endParaRPr lang="en-US" sz="1400" dirty="0"/>
          </a:p>
        </p:txBody>
      </p:sp>
      <p:sp>
        <p:nvSpPr>
          <p:cNvPr id="19" name="Text 14"/>
          <p:cNvSpPr txBox="1"/>
          <p:nvPr/>
        </p:nvSpPr>
        <p:spPr>
          <a:xfrm>
            <a:off x="548640" y="4114800"/>
            <a:ext cx="7315200" cy="36576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Six questions this presentation answers</a:t>
            </a:r>
            <a:endParaRPr lang="en-US" sz="1800" dirty="0"/>
          </a:p>
        </p:txBody>
      </p:sp>
      <p:sp>
        <p:nvSpPr>
          <p:cNvPr id="20" name="Shape 15"/>
          <p:cNvSpPr/>
          <p:nvPr/>
        </p:nvSpPr>
        <p:spPr>
          <a:xfrm>
            <a:off x="548640" y="4572000"/>
            <a:ext cx="384048" cy="384048"/>
          </a:xfrm>
          <a:prstGeom prst="ellipse">
            <a:avLst/>
          </a:prstGeom>
          <a:solidFill>
            <a:srgbClr val="00133B"/>
          </a:solidFill>
          <a:ln/>
        </p:spPr>
      </p:sp>
      <p:sp>
        <p:nvSpPr>
          <p:cNvPr id="21" name="Text 16"/>
          <p:cNvSpPr txBox="1"/>
          <p:nvPr/>
        </p:nvSpPr>
        <p:spPr>
          <a:xfrm>
            <a:off x="54864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17"/>
          <p:cNvSpPr txBox="1"/>
          <p:nvPr/>
        </p:nvSpPr>
        <p:spPr>
          <a:xfrm>
            <a:off x="1051560" y="4572000"/>
            <a:ext cx="2926080" cy="384048"/>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How much did we earn?</a:t>
            </a:r>
            <a:endParaRPr lang="en-US" sz="1500" dirty="0"/>
          </a:p>
        </p:txBody>
      </p:sp>
      <p:sp>
        <p:nvSpPr>
          <p:cNvPr id="23" name="Shape 18"/>
          <p:cNvSpPr/>
          <p:nvPr/>
        </p:nvSpPr>
        <p:spPr>
          <a:xfrm>
            <a:off x="4297680" y="4572000"/>
            <a:ext cx="384048" cy="384048"/>
          </a:xfrm>
          <a:prstGeom prst="ellipse">
            <a:avLst/>
          </a:prstGeom>
          <a:solidFill>
            <a:srgbClr val="00133B"/>
          </a:solidFill>
          <a:ln/>
        </p:spPr>
      </p:sp>
      <p:sp>
        <p:nvSpPr>
          <p:cNvPr id="24" name="Text 19"/>
          <p:cNvSpPr txBox="1"/>
          <p:nvPr/>
        </p:nvSpPr>
        <p:spPr>
          <a:xfrm>
            <a:off x="429768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0"/>
          <p:cNvSpPr txBox="1"/>
          <p:nvPr/>
        </p:nvSpPr>
        <p:spPr>
          <a:xfrm>
            <a:off x="4800600" y="4572000"/>
            <a:ext cx="2926080" cy="384048"/>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Are we growing?</a:t>
            </a:r>
            <a:endParaRPr lang="en-US" sz="1500" dirty="0"/>
          </a:p>
        </p:txBody>
      </p:sp>
      <p:sp>
        <p:nvSpPr>
          <p:cNvPr id="26" name="Shape 21"/>
          <p:cNvSpPr/>
          <p:nvPr/>
        </p:nvSpPr>
        <p:spPr>
          <a:xfrm>
            <a:off x="8046720" y="4572000"/>
            <a:ext cx="384048" cy="384048"/>
          </a:xfrm>
          <a:prstGeom prst="ellipse">
            <a:avLst/>
          </a:prstGeom>
          <a:solidFill>
            <a:srgbClr val="00133B"/>
          </a:solidFill>
          <a:ln/>
        </p:spPr>
      </p:sp>
      <p:sp>
        <p:nvSpPr>
          <p:cNvPr id="27" name="Text 22"/>
          <p:cNvSpPr txBox="1"/>
          <p:nvPr/>
        </p:nvSpPr>
        <p:spPr>
          <a:xfrm>
            <a:off x="804672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3"/>
          <p:cNvSpPr txBox="1"/>
          <p:nvPr/>
        </p:nvSpPr>
        <p:spPr>
          <a:xfrm>
            <a:off x="8549640" y="4572000"/>
            <a:ext cx="2926080" cy="384048"/>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What sells?</a:t>
            </a:r>
            <a:endParaRPr lang="en-US" sz="1500" dirty="0"/>
          </a:p>
        </p:txBody>
      </p:sp>
      <p:sp>
        <p:nvSpPr>
          <p:cNvPr id="29" name="Shape 24"/>
          <p:cNvSpPr/>
          <p:nvPr/>
        </p:nvSpPr>
        <p:spPr>
          <a:xfrm>
            <a:off x="548640" y="5120640"/>
            <a:ext cx="384048" cy="384048"/>
          </a:xfrm>
          <a:prstGeom prst="ellipse">
            <a:avLst/>
          </a:prstGeom>
          <a:solidFill>
            <a:srgbClr val="00133B"/>
          </a:solidFill>
          <a:ln/>
        </p:spPr>
      </p:sp>
      <p:sp>
        <p:nvSpPr>
          <p:cNvPr id="30" name="Text 25"/>
          <p:cNvSpPr txBox="1"/>
          <p:nvPr/>
        </p:nvSpPr>
        <p:spPr>
          <a:xfrm>
            <a:off x="54864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6"/>
          <p:cNvSpPr txBox="1"/>
          <p:nvPr/>
        </p:nvSpPr>
        <p:spPr>
          <a:xfrm>
            <a:off x="1051560" y="5120640"/>
            <a:ext cx="2926080" cy="384048"/>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Who buys?</a:t>
            </a:r>
            <a:endParaRPr lang="en-US" sz="1500" dirty="0"/>
          </a:p>
        </p:txBody>
      </p:sp>
      <p:sp>
        <p:nvSpPr>
          <p:cNvPr id="32" name="Shape 27"/>
          <p:cNvSpPr/>
          <p:nvPr/>
        </p:nvSpPr>
        <p:spPr>
          <a:xfrm>
            <a:off x="4297680" y="5120640"/>
            <a:ext cx="384048" cy="384048"/>
          </a:xfrm>
          <a:prstGeom prst="ellipse">
            <a:avLst/>
          </a:prstGeom>
          <a:solidFill>
            <a:srgbClr val="00133B"/>
          </a:solidFill>
          <a:ln/>
        </p:spPr>
      </p:sp>
      <p:sp>
        <p:nvSpPr>
          <p:cNvPr id="33" name="Text 28"/>
          <p:cNvSpPr txBox="1"/>
          <p:nvPr/>
        </p:nvSpPr>
        <p:spPr>
          <a:xfrm>
            <a:off x="429768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29"/>
          <p:cNvSpPr txBox="1"/>
          <p:nvPr/>
        </p:nvSpPr>
        <p:spPr>
          <a:xfrm>
            <a:off x="4800600" y="5120640"/>
            <a:ext cx="2926080" cy="384048"/>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What goes wrong?</a:t>
            </a:r>
            <a:endParaRPr lang="en-US" sz="1500" dirty="0"/>
          </a:p>
        </p:txBody>
      </p:sp>
      <p:sp>
        <p:nvSpPr>
          <p:cNvPr id="35" name="Shape 30"/>
          <p:cNvSpPr/>
          <p:nvPr/>
        </p:nvSpPr>
        <p:spPr>
          <a:xfrm>
            <a:off x="8046720" y="5120640"/>
            <a:ext cx="384048" cy="384048"/>
          </a:xfrm>
          <a:prstGeom prst="ellipse">
            <a:avLst/>
          </a:prstGeom>
          <a:solidFill>
            <a:srgbClr val="00133B"/>
          </a:solidFill>
          <a:ln/>
        </p:spPr>
      </p:sp>
      <p:sp>
        <p:nvSpPr>
          <p:cNvPr id="36" name="Text 31"/>
          <p:cNvSpPr txBox="1"/>
          <p:nvPr/>
        </p:nvSpPr>
        <p:spPr>
          <a:xfrm>
            <a:off x="804672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2"/>
          <p:cNvSpPr txBox="1"/>
          <p:nvPr/>
        </p:nvSpPr>
        <p:spPr>
          <a:xfrm>
            <a:off x="8549640" y="5120640"/>
            <a:ext cx="2926080" cy="384048"/>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Do discounts work?</a:t>
            </a:r>
            <a:endParaRPr lang="en-US" sz="1500" dirty="0"/>
          </a:p>
        </p:txBody>
      </p:sp>
      <p:pic>
        <p:nvPicPr>
          <p:cNvPr id="38" name="Image 3" descr="Bright_Store_Analysis_logo.png">    </p:cNvPr>
          <p:cNvPicPr>
            <a:picLocks noChangeAspect="1"/>
          </p:cNvPicPr>
          <p:nvPr/>
        </p:nvPicPr>
        <p:blipFill>
          <a:blip r:embed="rId4"/>
          <a:stretch>
            <a:fillRect/>
          </a:stretch>
        </p:blipFill>
        <p:spPr>
          <a:xfrm>
            <a:off x="548640" y="6382512"/>
            <a:ext cx="1243584" cy="291112"/>
          </a:xfrm>
          <a:prstGeom prst="rect">
            <a:avLst/>
          </a:prstGeom>
        </p:spPr>
      </p:pic>
      <p:sp>
        <p:nvSpPr>
          <p:cNvPr id="39" name="Text 3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Table of contents</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Where we are going, in the order we will tell the story</a:t>
            </a:r>
            <a:endParaRPr lang="en-US" sz="1600" dirty="0"/>
          </a:p>
        </p:txBody>
      </p:sp>
      <p:sp>
        <p:nvSpPr>
          <p:cNvPr id="4" name="Shape 2"/>
          <p:cNvSpPr/>
          <p:nvPr/>
        </p:nvSpPr>
        <p:spPr>
          <a:xfrm>
            <a:off x="548640" y="1691640"/>
            <a:ext cx="5394960" cy="731520"/>
          </a:xfrm>
          <a:prstGeom prst="roundRect">
            <a:avLst>
              <a:gd name="adj" fmla="val 12500"/>
            </a:avLst>
          </a:prstGeom>
          <a:solidFill>
            <a:srgbClr val="FFF4EA"/>
          </a:solidFill>
          <a:ln/>
        </p:spPr>
      </p:sp>
      <p:sp>
        <p:nvSpPr>
          <p:cNvPr id="5" name="Shape 3"/>
          <p:cNvSpPr/>
          <p:nvPr/>
        </p:nvSpPr>
        <p:spPr>
          <a:xfrm>
            <a:off x="731520" y="1819656"/>
            <a:ext cx="475488" cy="475488"/>
          </a:xfrm>
          <a:prstGeom prst="ellipse">
            <a:avLst/>
          </a:prstGeom>
          <a:solidFill>
            <a:srgbClr val="EF7E29"/>
          </a:solidFill>
          <a:ln/>
        </p:spPr>
      </p:sp>
      <p:sp>
        <p:nvSpPr>
          <p:cNvPr id="6" name="Text 4"/>
          <p:cNvSpPr txBox="1"/>
          <p:nvPr/>
        </p:nvSpPr>
        <p:spPr>
          <a:xfrm>
            <a:off x="731520" y="181965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1691640"/>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The data behind the story</a:t>
            </a:r>
            <a:endParaRPr lang="en-US" sz="1500" dirty="0"/>
          </a:p>
        </p:txBody>
      </p:sp>
      <p:sp>
        <p:nvSpPr>
          <p:cNvPr id="8" name="Text 6"/>
          <p:cNvSpPr txBox="1"/>
          <p:nvPr/>
        </p:nvSpPr>
        <p:spPr>
          <a:xfrm>
            <a:off x="4709160" y="1691640"/>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4</a:t>
            </a:r>
            <a:endParaRPr lang="en-US" sz="1200" dirty="0"/>
          </a:p>
        </p:txBody>
      </p:sp>
      <p:sp>
        <p:nvSpPr>
          <p:cNvPr id="9" name="Shape 7"/>
          <p:cNvSpPr/>
          <p:nvPr/>
        </p:nvSpPr>
        <p:spPr>
          <a:xfrm>
            <a:off x="548640" y="2587752"/>
            <a:ext cx="5394960" cy="731520"/>
          </a:xfrm>
          <a:prstGeom prst="roundRect">
            <a:avLst>
              <a:gd name="adj" fmla="val 12500"/>
            </a:avLst>
          </a:prstGeom>
          <a:solidFill>
            <a:srgbClr val="FFF4EA"/>
          </a:solidFill>
          <a:ln/>
        </p:spPr>
      </p:sp>
      <p:sp>
        <p:nvSpPr>
          <p:cNvPr id="10" name="Shape 8"/>
          <p:cNvSpPr/>
          <p:nvPr/>
        </p:nvSpPr>
        <p:spPr>
          <a:xfrm>
            <a:off x="731520" y="2715768"/>
            <a:ext cx="475488" cy="475488"/>
          </a:xfrm>
          <a:prstGeom prst="ellipse">
            <a:avLst/>
          </a:prstGeom>
          <a:solidFill>
            <a:srgbClr val="EF7E29"/>
          </a:solidFill>
          <a:ln/>
        </p:spPr>
      </p:sp>
      <p:sp>
        <p:nvSpPr>
          <p:cNvPr id="11" name="Text 9"/>
          <p:cNvSpPr txBox="1"/>
          <p:nvPr/>
        </p:nvSpPr>
        <p:spPr>
          <a:xfrm>
            <a:off x="731520" y="2715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417320" y="2587752"/>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How we count revenue and the key numbers (KPIs)</a:t>
            </a:r>
            <a:endParaRPr lang="en-US" sz="1500" dirty="0"/>
          </a:p>
        </p:txBody>
      </p:sp>
      <p:sp>
        <p:nvSpPr>
          <p:cNvPr id="13" name="Text 11"/>
          <p:cNvSpPr txBox="1"/>
          <p:nvPr/>
        </p:nvSpPr>
        <p:spPr>
          <a:xfrm>
            <a:off x="4709160" y="2587752"/>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5 to 7</a:t>
            </a:r>
            <a:endParaRPr lang="en-US" sz="1200" dirty="0"/>
          </a:p>
        </p:txBody>
      </p:sp>
      <p:sp>
        <p:nvSpPr>
          <p:cNvPr id="14" name="Shape 12"/>
          <p:cNvSpPr/>
          <p:nvPr/>
        </p:nvSpPr>
        <p:spPr>
          <a:xfrm>
            <a:off x="548640" y="3483864"/>
            <a:ext cx="5394960" cy="731520"/>
          </a:xfrm>
          <a:prstGeom prst="roundRect">
            <a:avLst>
              <a:gd name="adj" fmla="val 12500"/>
            </a:avLst>
          </a:prstGeom>
          <a:solidFill>
            <a:srgbClr val="FFF4EA"/>
          </a:solidFill>
          <a:ln/>
        </p:spPr>
      </p:sp>
      <p:sp>
        <p:nvSpPr>
          <p:cNvPr id="15" name="Shape 13"/>
          <p:cNvSpPr/>
          <p:nvPr/>
        </p:nvSpPr>
        <p:spPr>
          <a:xfrm>
            <a:off x="731520" y="3611880"/>
            <a:ext cx="475488" cy="475488"/>
          </a:xfrm>
          <a:prstGeom prst="ellipse">
            <a:avLst/>
          </a:prstGeom>
          <a:solidFill>
            <a:srgbClr val="EF7E29"/>
          </a:solidFill>
          <a:ln/>
        </p:spPr>
      </p:sp>
      <p:sp>
        <p:nvSpPr>
          <p:cNvPr id="16" name="Text 14"/>
          <p:cNvSpPr txBox="1"/>
          <p:nvPr/>
        </p:nvSpPr>
        <p:spPr>
          <a:xfrm>
            <a:off x="731520" y="36118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417320" y="3483864"/>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Is the shop growing?</a:t>
            </a:r>
            <a:endParaRPr lang="en-US" sz="1500" dirty="0"/>
          </a:p>
        </p:txBody>
      </p:sp>
      <p:sp>
        <p:nvSpPr>
          <p:cNvPr id="18" name="Text 16"/>
          <p:cNvSpPr txBox="1"/>
          <p:nvPr/>
        </p:nvSpPr>
        <p:spPr>
          <a:xfrm>
            <a:off x="4709160" y="3483864"/>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8 to 10</a:t>
            </a:r>
            <a:endParaRPr lang="en-US" sz="1200" dirty="0"/>
          </a:p>
        </p:txBody>
      </p:sp>
      <p:sp>
        <p:nvSpPr>
          <p:cNvPr id="19" name="Shape 17"/>
          <p:cNvSpPr/>
          <p:nvPr/>
        </p:nvSpPr>
        <p:spPr>
          <a:xfrm>
            <a:off x="548640" y="4379976"/>
            <a:ext cx="5394960" cy="731520"/>
          </a:xfrm>
          <a:prstGeom prst="roundRect">
            <a:avLst>
              <a:gd name="adj" fmla="val 12500"/>
            </a:avLst>
          </a:prstGeom>
          <a:solidFill>
            <a:srgbClr val="FFF4EA"/>
          </a:solidFill>
          <a:ln/>
        </p:spPr>
      </p:sp>
      <p:sp>
        <p:nvSpPr>
          <p:cNvPr id="20" name="Shape 18"/>
          <p:cNvSpPr/>
          <p:nvPr/>
        </p:nvSpPr>
        <p:spPr>
          <a:xfrm>
            <a:off x="731520" y="4507992"/>
            <a:ext cx="475488" cy="475488"/>
          </a:xfrm>
          <a:prstGeom prst="ellipse">
            <a:avLst/>
          </a:prstGeom>
          <a:solidFill>
            <a:srgbClr val="EF7E29"/>
          </a:solidFill>
          <a:ln/>
        </p:spPr>
      </p:sp>
      <p:sp>
        <p:nvSpPr>
          <p:cNvPr id="21" name="Text 19"/>
          <p:cNvSpPr txBox="1"/>
          <p:nvPr/>
        </p:nvSpPr>
        <p:spPr>
          <a:xfrm>
            <a:off x="731520" y="450799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1417320" y="4379976"/>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What sells?</a:t>
            </a:r>
            <a:endParaRPr lang="en-US" sz="1500" dirty="0"/>
          </a:p>
        </p:txBody>
      </p:sp>
      <p:sp>
        <p:nvSpPr>
          <p:cNvPr id="23" name="Text 21"/>
          <p:cNvSpPr txBox="1"/>
          <p:nvPr/>
        </p:nvSpPr>
        <p:spPr>
          <a:xfrm>
            <a:off x="4709160" y="4379976"/>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11 to 12</a:t>
            </a:r>
            <a:endParaRPr lang="en-US" sz="1200" dirty="0"/>
          </a:p>
        </p:txBody>
      </p:sp>
      <p:sp>
        <p:nvSpPr>
          <p:cNvPr id="24" name="Shape 22"/>
          <p:cNvSpPr/>
          <p:nvPr/>
        </p:nvSpPr>
        <p:spPr>
          <a:xfrm>
            <a:off x="548640" y="5276088"/>
            <a:ext cx="5394960" cy="731520"/>
          </a:xfrm>
          <a:prstGeom prst="roundRect">
            <a:avLst>
              <a:gd name="adj" fmla="val 12500"/>
            </a:avLst>
          </a:prstGeom>
          <a:solidFill>
            <a:srgbClr val="FFF4EA"/>
          </a:solidFill>
          <a:ln/>
        </p:spPr>
      </p:sp>
      <p:sp>
        <p:nvSpPr>
          <p:cNvPr id="25" name="Shape 23"/>
          <p:cNvSpPr/>
          <p:nvPr/>
        </p:nvSpPr>
        <p:spPr>
          <a:xfrm>
            <a:off x="731520" y="5404104"/>
            <a:ext cx="475488" cy="475488"/>
          </a:xfrm>
          <a:prstGeom prst="ellipse">
            <a:avLst/>
          </a:prstGeom>
          <a:solidFill>
            <a:srgbClr val="EF7E29"/>
          </a:solidFill>
          <a:ln/>
        </p:spPr>
      </p:sp>
      <p:sp>
        <p:nvSpPr>
          <p:cNvPr id="26" name="Text 24"/>
          <p:cNvSpPr txBox="1"/>
          <p:nvPr/>
        </p:nvSpPr>
        <p:spPr>
          <a:xfrm>
            <a:off x="731520" y="540410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1417320" y="5276088"/>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Who buys?</a:t>
            </a:r>
            <a:endParaRPr lang="en-US" sz="1500" dirty="0"/>
          </a:p>
        </p:txBody>
      </p:sp>
      <p:sp>
        <p:nvSpPr>
          <p:cNvPr id="28" name="Text 26"/>
          <p:cNvSpPr txBox="1"/>
          <p:nvPr/>
        </p:nvSpPr>
        <p:spPr>
          <a:xfrm>
            <a:off x="4709160" y="5276088"/>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13</a:t>
            </a:r>
            <a:endParaRPr lang="en-US" sz="1200" dirty="0"/>
          </a:p>
        </p:txBody>
      </p:sp>
      <p:sp>
        <p:nvSpPr>
          <p:cNvPr id="29" name="Shape 27"/>
          <p:cNvSpPr/>
          <p:nvPr/>
        </p:nvSpPr>
        <p:spPr>
          <a:xfrm>
            <a:off x="6217920" y="1691640"/>
            <a:ext cx="5394960" cy="731520"/>
          </a:xfrm>
          <a:prstGeom prst="roundRect">
            <a:avLst>
              <a:gd name="adj" fmla="val 12500"/>
            </a:avLst>
          </a:prstGeom>
          <a:solidFill>
            <a:srgbClr val="FFF4EA"/>
          </a:solidFill>
          <a:ln/>
        </p:spPr>
      </p:sp>
      <p:sp>
        <p:nvSpPr>
          <p:cNvPr id="30" name="Shape 28"/>
          <p:cNvSpPr/>
          <p:nvPr/>
        </p:nvSpPr>
        <p:spPr>
          <a:xfrm>
            <a:off x="6400800" y="1819656"/>
            <a:ext cx="475488" cy="475488"/>
          </a:xfrm>
          <a:prstGeom prst="ellipse">
            <a:avLst/>
          </a:prstGeom>
          <a:solidFill>
            <a:srgbClr val="EF7E29"/>
          </a:solidFill>
          <a:ln/>
        </p:spPr>
      </p:sp>
      <p:sp>
        <p:nvSpPr>
          <p:cNvPr id="31" name="Text 29"/>
          <p:cNvSpPr txBox="1"/>
          <p:nvPr/>
        </p:nvSpPr>
        <p:spPr>
          <a:xfrm>
            <a:off x="6400800" y="181965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7086600" y="1691640"/>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What goes wrong?</a:t>
            </a:r>
            <a:endParaRPr lang="en-US" sz="1500" dirty="0"/>
          </a:p>
        </p:txBody>
      </p:sp>
      <p:sp>
        <p:nvSpPr>
          <p:cNvPr id="33" name="Text 31"/>
          <p:cNvSpPr txBox="1"/>
          <p:nvPr/>
        </p:nvSpPr>
        <p:spPr>
          <a:xfrm>
            <a:off x="10378440" y="1691640"/>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14 to 15</a:t>
            </a:r>
            <a:endParaRPr lang="en-US" sz="1200" dirty="0"/>
          </a:p>
        </p:txBody>
      </p:sp>
      <p:sp>
        <p:nvSpPr>
          <p:cNvPr id="34" name="Shape 32"/>
          <p:cNvSpPr/>
          <p:nvPr/>
        </p:nvSpPr>
        <p:spPr>
          <a:xfrm>
            <a:off x="6217920" y="2587752"/>
            <a:ext cx="5394960" cy="731520"/>
          </a:xfrm>
          <a:prstGeom prst="roundRect">
            <a:avLst>
              <a:gd name="adj" fmla="val 12500"/>
            </a:avLst>
          </a:prstGeom>
          <a:solidFill>
            <a:srgbClr val="FFF4EA"/>
          </a:solidFill>
          <a:ln/>
        </p:spPr>
      </p:sp>
      <p:sp>
        <p:nvSpPr>
          <p:cNvPr id="35" name="Shape 33"/>
          <p:cNvSpPr/>
          <p:nvPr/>
        </p:nvSpPr>
        <p:spPr>
          <a:xfrm>
            <a:off x="6400800" y="2715768"/>
            <a:ext cx="475488" cy="475488"/>
          </a:xfrm>
          <a:prstGeom prst="ellipse">
            <a:avLst/>
          </a:prstGeom>
          <a:solidFill>
            <a:srgbClr val="EF7E29"/>
          </a:solidFill>
          <a:ln/>
        </p:spPr>
      </p:sp>
      <p:sp>
        <p:nvSpPr>
          <p:cNvPr id="36" name="Text 34"/>
          <p:cNvSpPr txBox="1"/>
          <p:nvPr/>
        </p:nvSpPr>
        <p:spPr>
          <a:xfrm>
            <a:off x="6400800" y="2715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7" name="Text 35"/>
          <p:cNvSpPr txBox="1"/>
          <p:nvPr/>
        </p:nvSpPr>
        <p:spPr>
          <a:xfrm>
            <a:off x="7086600" y="2587752"/>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Do discounts work?</a:t>
            </a:r>
            <a:endParaRPr lang="en-US" sz="1500" dirty="0"/>
          </a:p>
        </p:txBody>
      </p:sp>
      <p:sp>
        <p:nvSpPr>
          <p:cNvPr id="38" name="Text 36"/>
          <p:cNvSpPr txBox="1"/>
          <p:nvPr/>
        </p:nvSpPr>
        <p:spPr>
          <a:xfrm>
            <a:off x="10378440" y="2587752"/>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16</a:t>
            </a:r>
            <a:endParaRPr lang="en-US" sz="1200" dirty="0"/>
          </a:p>
        </p:txBody>
      </p:sp>
      <p:sp>
        <p:nvSpPr>
          <p:cNvPr id="39" name="Shape 37"/>
          <p:cNvSpPr/>
          <p:nvPr/>
        </p:nvSpPr>
        <p:spPr>
          <a:xfrm>
            <a:off x="6217920" y="3483864"/>
            <a:ext cx="5394960" cy="731520"/>
          </a:xfrm>
          <a:prstGeom prst="roundRect">
            <a:avLst>
              <a:gd name="adj" fmla="val 12500"/>
            </a:avLst>
          </a:prstGeom>
          <a:solidFill>
            <a:srgbClr val="FFF4EA"/>
          </a:solidFill>
          <a:ln/>
        </p:spPr>
      </p:sp>
      <p:sp>
        <p:nvSpPr>
          <p:cNvPr id="40" name="Shape 38"/>
          <p:cNvSpPr/>
          <p:nvPr/>
        </p:nvSpPr>
        <p:spPr>
          <a:xfrm>
            <a:off x="6400800" y="3611880"/>
            <a:ext cx="475488" cy="475488"/>
          </a:xfrm>
          <a:prstGeom prst="ellipse">
            <a:avLst/>
          </a:prstGeom>
          <a:solidFill>
            <a:srgbClr val="EF7E29"/>
          </a:solidFill>
          <a:ln/>
        </p:spPr>
      </p:sp>
      <p:sp>
        <p:nvSpPr>
          <p:cNvPr id="41" name="Text 39"/>
          <p:cNvSpPr txBox="1"/>
          <p:nvPr/>
        </p:nvSpPr>
        <p:spPr>
          <a:xfrm>
            <a:off x="6400800" y="36118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2" name="Text 40"/>
          <p:cNvSpPr txBox="1"/>
          <p:nvPr/>
        </p:nvSpPr>
        <p:spPr>
          <a:xfrm>
            <a:off x="7086600" y="3483864"/>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What to keep in mind about the data</a:t>
            </a:r>
            <a:endParaRPr lang="en-US" sz="1500" dirty="0"/>
          </a:p>
        </p:txBody>
      </p:sp>
      <p:sp>
        <p:nvSpPr>
          <p:cNvPr id="43" name="Text 41"/>
          <p:cNvSpPr txBox="1"/>
          <p:nvPr/>
        </p:nvSpPr>
        <p:spPr>
          <a:xfrm>
            <a:off x="10378440" y="3483864"/>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17</a:t>
            </a:r>
            <a:endParaRPr lang="en-US" sz="1200" dirty="0"/>
          </a:p>
        </p:txBody>
      </p:sp>
      <p:sp>
        <p:nvSpPr>
          <p:cNvPr id="44" name="Shape 42"/>
          <p:cNvSpPr/>
          <p:nvPr/>
        </p:nvSpPr>
        <p:spPr>
          <a:xfrm>
            <a:off x="6217920" y="4379976"/>
            <a:ext cx="5394960" cy="731520"/>
          </a:xfrm>
          <a:prstGeom prst="roundRect">
            <a:avLst>
              <a:gd name="adj" fmla="val 12500"/>
            </a:avLst>
          </a:prstGeom>
          <a:solidFill>
            <a:srgbClr val="FFF4EA"/>
          </a:solidFill>
          <a:ln/>
        </p:spPr>
      </p:sp>
      <p:sp>
        <p:nvSpPr>
          <p:cNvPr id="45" name="Shape 43"/>
          <p:cNvSpPr/>
          <p:nvPr/>
        </p:nvSpPr>
        <p:spPr>
          <a:xfrm>
            <a:off x="6400800" y="4507992"/>
            <a:ext cx="475488" cy="475488"/>
          </a:xfrm>
          <a:prstGeom prst="ellipse">
            <a:avLst/>
          </a:prstGeom>
          <a:solidFill>
            <a:srgbClr val="EF7E29"/>
          </a:solidFill>
          <a:ln/>
        </p:spPr>
      </p:sp>
      <p:sp>
        <p:nvSpPr>
          <p:cNvPr id="46" name="Text 44"/>
          <p:cNvSpPr txBox="1"/>
          <p:nvPr/>
        </p:nvSpPr>
        <p:spPr>
          <a:xfrm>
            <a:off x="6400800" y="450799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7" name="Text 45"/>
          <p:cNvSpPr txBox="1"/>
          <p:nvPr/>
        </p:nvSpPr>
        <p:spPr>
          <a:xfrm>
            <a:off x="7086600" y="4379976"/>
            <a:ext cx="3383280" cy="731520"/>
          </a:xfrm>
          <a:prstGeom prst="rect">
            <a:avLst/>
          </a:prstGeom>
          <a:noFill/>
          <a:ln/>
        </p:spPr>
        <p:txBody>
          <a:bodyPr wrap="square" lIns="0" tIns="0" rIns="0" bIns="0" rtlCol="0" anchor="ctr"/>
          <a:lstStyle/>
          <a:p>
            <a:pPr indent="0" marL="0">
              <a:buNone/>
            </a:pPr>
            <a:r>
              <a:rPr lang="en-US" sz="1500" b="1" dirty="0">
                <a:solidFill>
                  <a:srgbClr val="00133B"/>
                </a:solidFill>
                <a:latin typeface="Calibri" pitchFamily="34" charset="0"/>
                <a:ea typeface="Calibri" pitchFamily="34" charset="-122"/>
                <a:cs typeface="Calibri" pitchFamily="34" charset="-120"/>
              </a:rPr>
              <a:t>Recommendations: how to move forward</a:t>
            </a:r>
            <a:endParaRPr lang="en-US" sz="1500" dirty="0"/>
          </a:p>
        </p:txBody>
      </p:sp>
      <p:sp>
        <p:nvSpPr>
          <p:cNvPr id="48" name="Text 46"/>
          <p:cNvSpPr txBox="1"/>
          <p:nvPr/>
        </p:nvSpPr>
        <p:spPr>
          <a:xfrm>
            <a:off x="10378440" y="4379976"/>
            <a:ext cx="1097280" cy="731520"/>
          </a:xfrm>
          <a:prstGeom prst="rect">
            <a:avLst/>
          </a:prstGeom>
          <a:noFill/>
          <a:ln/>
        </p:spPr>
        <p:txBody>
          <a:bodyPr wrap="square" lIns="0" tIns="0" rIns="0" bIns="0" rtlCol="0" anchor="ctr"/>
          <a:lstStyle/>
          <a:p>
            <a:pPr algn="r" indent="0" marL="0">
              <a:buNone/>
            </a:pPr>
            <a:r>
              <a:rPr lang="en-US" sz="1200" dirty="0">
                <a:solidFill>
                  <a:srgbClr val="5A6272"/>
                </a:solidFill>
                <a:latin typeface="Calibri" pitchFamily="34" charset="0"/>
                <a:ea typeface="Calibri" pitchFamily="34" charset="-122"/>
                <a:cs typeface="Calibri" pitchFamily="34" charset="-120"/>
              </a:rPr>
              <a:t>Slide 18 to 19</a:t>
            </a:r>
            <a:endParaRPr lang="en-US" sz="1200" dirty="0"/>
          </a:p>
        </p:txBody>
      </p:sp>
      <p:pic>
        <p:nvPicPr>
          <p:cNvPr id="49" name="Image 0" descr="Bright_Store_Analysis_logo.png">    </p:cNvPr>
          <p:cNvPicPr>
            <a:picLocks noChangeAspect="1"/>
          </p:cNvPicPr>
          <p:nvPr/>
        </p:nvPicPr>
        <p:blipFill>
          <a:blip r:embed="rId1"/>
          <a:stretch>
            <a:fillRect/>
          </a:stretch>
        </p:blipFill>
        <p:spPr>
          <a:xfrm>
            <a:off x="548640" y="6382512"/>
            <a:ext cx="1243584" cy="291112"/>
          </a:xfrm>
          <a:prstGeom prst="rect">
            <a:avLst/>
          </a:prstGeom>
        </p:spPr>
      </p:pic>
      <p:sp>
        <p:nvSpPr>
          <p:cNvPr id="50" name="Text 4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The data behind the story</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Four sets of records, connected by simple reference numbers</a:t>
            </a:r>
            <a:endParaRPr lang="en-US" sz="1600" dirty="0"/>
          </a:p>
        </p:txBody>
      </p:sp>
      <p:sp>
        <p:nvSpPr>
          <p:cNvPr id="4" name="Shape 2"/>
          <p:cNvSpPr/>
          <p:nvPr/>
        </p:nvSpPr>
        <p:spPr>
          <a:xfrm>
            <a:off x="640080" y="1828800"/>
            <a:ext cx="3108960" cy="1691640"/>
          </a:xfrm>
          <a:prstGeom prst="roundRect">
            <a:avLst>
              <a:gd name="adj" fmla="val 5405"/>
            </a:avLst>
          </a:prstGeom>
          <a:solidFill>
            <a:srgbClr val="FFF4EA"/>
          </a:solidFill>
          <a:ln/>
        </p:spPr>
      </p:sp>
      <p:sp>
        <p:nvSpPr>
          <p:cNvPr id="5" name="Shape 3"/>
          <p:cNvSpPr/>
          <p:nvPr/>
        </p:nvSpPr>
        <p:spPr>
          <a:xfrm>
            <a:off x="822960" y="2011680"/>
            <a:ext cx="502920" cy="502920"/>
          </a:xfrm>
          <a:prstGeom prst="ellipse">
            <a:avLst/>
          </a:prstGeom>
          <a:solidFill>
            <a:srgbClr val="EF7E29"/>
          </a:solidFill>
          <a:ln/>
        </p:spPr>
      </p:sp>
      <p:pic>
        <p:nvPicPr>
          <p:cNvPr id="6" name="Image 0" descr="preencoded.png">    </p:cNvPr>
          <p:cNvPicPr>
            <a:picLocks noChangeAspect="1"/>
          </p:cNvPicPr>
          <p:nvPr/>
        </p:nvPicPr>
        <p:blipFill>
          <a:blip r:embed="rId1"/>
          <a:stretch>
            <a:fillRect/>
          </a:stretch>
        </p:blipFill>
        <p:spPr>
          <a:xfrm>
            <a:off x="948690" y="2137410"/>
            <a:ext cx="251460" cy="251460"/>
          </a:xfrm>
          <a:prstGeom prst="rect">
            <a:avLst/>
          </a:prstGeom>
        </p:spPr>
      </p:pic>
      <p:sp>
        <p:nvSpPr>
          <p:cNvPr id="7" name="Text 4"/>
          <p:cNvSpPr txBox="1"/>
          <p:nvPr/>
        </p:nvSpPr>
        <p:spPr>
          <a:xfrm>
            <a:off x="1463040" y="2011680"/>
            <a:ext cx="2103120" cy="50292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Customers</a:t>
            </a:r>
            <a:endParaRPr lang="en-US" sz="1800" dirty="0"/>
          </a:p>
        </p:txBody>
      </p:sp>
      <p:sp>
        <p:nvSpPr>
          <p:cNvPr id="8" name="Text 5"/>
          <p:cNvSpPr txBox="1"/>
          <p:nvPr/>
        </p:nvSpPr>
        <p:spPr>
          <a:xfrm>
            <a:off x="822960" y="2606040"/>
            <a:ext cx="1463040" cy="457200"/>
          </a:xfrm>
          <a:prstGeom prst="rect">
            <a:avLst/>
          </a:prstGeom>
          <a:noFill/>
          <a:ln/>
        </p:spPr>
        <p:txBody>
          <a:bodyPr wrap="square" lIns="0" tIns="0" rIns="0" bIns="0" rtlCol="0" anchor="ctr"/>
          <a:lstStyle/>
          <a:p>
            <a:pPr indent="0" marL="0">
              <a:buNone/>
            </a:pPr>
            <a:r>
              <a:rPr lang="en-US" sz="2600" b="1" dirty="0">
                <a:solidFill>
                  <a:srgbClr val="EF7E29"/>
                </a:solidFill>
                <a:latin typeface="Calibri" pitchFamily="34" charset="0"/>
                <a:ea typeface="Calibri" pitchFamily="34" charset="-122"/>
                <a:cs typeface="Calibri" pitchFamily="34" charset="-120"/>
              </a:rPr>
              <a:t>10,000</a:t>
            </a:r>
            <a:endParaRPr lang="en-US" sz="2600" dirty="0"/>
          </a:p>
        </p:txBody>
      </p:sp>
      <p:sp>
        <p:nvSpPr>
          <p:cNvPr id="9" name="Text 6"/>
          <p:cNvSpPr txBox="1"/>
          <p:nvPr/>
        </p:nvSpPr>
        <p:spPr>
          <a:xfrm>
            <a:off x="822960" y="3017520"/>
            <a:ext cx="2743200" cy="4114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who they are: age, city, segment</a:t>
            </a:r>
            <a:endParaRPr lang="en-US" sz="1200" dirty="0"/>
          </a:p>
        </p:txBody>
      </p:sp>
      <p:sp>
        <p:nvSpPr>
          <p:cNvPr id="10" name="Shape 7"/>
          <p:cNvSpPr/>
          <p:nvPr/>
        </p:nvSpPr>
        <p:spPr>
          <a:xfrm>
            <a:off x="4526280" y="1828800"/>
            <a:ext cx="3108960" cy="1691640"/>
          </a:xfrm>
          <a:prstGeom prst="roundRect">
            <a:avLst>
              <a:gd name="adj" fmla="val 5405"/>
            </a:avLst>
          </a:prstGeom>
          <a:solidFill>
            <a:srgbClr val="00133B"/>
          </a:solidFill>
          <a:ln/>
        </p:spPr>
      </p:sp>
      <p:sp>
        <p:nvSpPr>
          <p:cNvPr id="11" name="Shape 8"/>
          <p:cNvSpPr/>
          <p:nvPr/>
        </p:nvSpPr>
        <p:spPr>
          <a:xfrm>
            <a:off x="4709160" y="2011680"/>
            <a:ext cx="502920" cy="502920"/>
          </a:xfrm>
          <a:prstGeom prst="ellipse">
            <a:avLst/>
          </a:prstGeom>
          <a:solidFill>
            <a:srgbClr val="EF7E29"/>
          </a:solidFill>
          <a:ln/>
        </p:spPr>
      </p:sp>
      <p:pic>
        <p:nvPicPr>
          <p:cNvPr id="12" name="Image 1" descr="preencoded.png">    </p:cNvPr>
          <p:cNvPicPr>
            <a:picLocks noChangeAspect="1"/>
          </p:cNvPicPr>
          <p:nvPr/>
        </p:nvPicPr>
        <p:blipFill>
          <a:blip r:embed="rId2"/>
          <a:stretch>
            <a:fillRect/>
          </a:stretch>
        </p:blipFill>
        <p:spPr>
          <a:xfrm>
            <a:off x="4834890" y="2137410"/>
            <a:ext cx="251460" cy="251460"/>
          </a:xfrm>
          <a:prstGeom prst="rect">
            <a:avLst/>
          </a:prstGeom>
        </p:spPr>
      </p:pic>
      <p:sp>
        <p:nvSpPr>
          <p:cNvPr id="13" name="Text 9"/>
          <p:cNvSpPr txBox="1"/>
          <p:nvPr/>
        </p:nvSpPr>
        <p:spPr>
          <a:xfrm>
            <a:off x="5349240" y="2011680"/>
            <a:ext cx="210312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Orders</a:t>
            </a:r>
            <a:endParaRPr lang="en-US" sz="1800" dirty="0"/>
          </a:p>
        </p:txBody>
      </p:sp>
      <p:sp>
        <p:nvSpPr>
          <p:cNvPr id="14" name="Text 10"/>
          <p:cNvSpPr txBox="1"/>
          <p:nvPr/>
        </p:nvSpPr>
        <p:spPr>
          <a:xfrm>
            <a:off x="4709160" y="2606040"/>
            <a:ext cx="1463040" cy="457200"/>
          </a:xfrm>
          <a:prstGeom prst="rect">
            <a:avLst/>
          </a:prstGeom>
          <a:noFill/>
          <a:ln/>
        </p:spPr>
        <p:txBody>
          <a:bodyPr wrap="square" lIns="0" tIns="0" rIns="0" bIns="0" rtlCol="0" anchor="ctr"/>
          <a:lstStyle/>
          <a:p>
            <a:pPr indent="0" marL="0">
              <a:buNone/>
            </a:pPr>
            <a:r>
              <a:rPr lang="en-US" sz="2600" b="1" dirty="0">
                <a:solidFill>
                  <a:srgbClr val="F8A91A"/>
                </a:solidFill>
                <a:latin typeface="Calibri" pitchFamily="34" charset="0"/>
                <a:ea typeface="Calibri" pitchFamily="34" charset="-122"/>
                <a:cs typeface="Calibri" pitchFamily="34" charset="-120"/>
              </a:rPr>
              <a:t>50,000</a:t>
            </a:r>
            <a:endParaRPr lang="en-US" sz="2600" dirty="0"/>
          </a:p>
        </p:txBody>
      </p:sp>
      <p:sp>
        <p:nvSpPr>
          <p:cNvPr id="15" name="Text 11"/>
          <p:cNvSpPr txBox="1"/>
          <p:nvPr/>
        </p:nvSpPr>
        <p:spPr>
          <a:xfrm>
            <a:off x="4709160" y="3017520"/>
            <a:ext cx="274320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what was bought, when, and the status</a:t>
            </a:r>
            <a:endParaRPr lang="en-US" sz="1200" dirty="0"/>
          </a:p>
        </p:txBody>
      </p:sp>
      <p:sp>
        <p:nvSpPr>
          <p:cNvPr id="16" name="Shape 12"/>
          <p:cNvSpPr/>
          <p:nvPr/>
        </p:nvSpPr>
        <p:spPr>
          <a:xfrm>
            <a:off x="8412480" y="1828800"/>
            <a:ext cx="3108960" cy="1691640"/>
          </a:xfrm>
          <a:prstGeom prst="roundRect">
            <a:avLst>
              <a:gd name="adj" fmla="val 5405"/>
            </a:avLst>
          </a:prstGeom>
          <a:solidFill>
            <a:srgbClr val="FFF4EA"/>
          </a:solidFill>
          <a:ln/>
        </p:spPr>
      </p:sp>
      <p:sp>
        <p:nvSpPr>
          <p:cNvPr id="17" name="Shape 13"/>
          <p:cNvSpPr/>
          <p:nvPr/>
        </p:nvSpPr>
        <p:spPr>
          <a:xfrm>
            <a:off x="8595360" y="2011680"/>
            <a:ext cx="502920" cy="502920"/>
          </a:xfrm>
          <a:prstGeom prst="ellipse">
            <a:avLst/>
          </a:prstGeom>
          <a:solidFill>
            <a:srgbClr val="EF7E29"/>
          </a:solidFill>
          <a:ln/>
        </p:spPr>
      </p:sp>
      <p:pic>
        <p:nvPicPr>
          <p:cNvPr id="18" name="Image 2" descr="preencoded.png">    </p:cNvPr>
          <p:cNvPicPr>
            <a:picLocks noChangeAspect="1"/>
          </p:cNvPicPr>
          <p:nvPr/>
        </p:nvPicPr>
        <p:blipFill>
          <a:blip r:embed="rId3"/>
          <a:stretch>
            <a:fillRect/>
          </a:stretch>
        </p:blipFill>
        <p:spPr>
          <a:xfrm>
            <a:off x="8721090" y="2137410"/>
            <a:ext cx="251460" cy="251460"/>
          </a:xfrm>
          <a:prstGeom prst="rect">
            <a:avLst/>
          </a:prstGeom>
        </p:spPr>
      </p:pic>
      <p:sp>
        <p:nvSpPr>
          <p:cNvPr id="19" name="Text 14"/>
          <p:cNvSpPr txBox="1"/>
          <p:nvPr/>
        </p:nvSpPr>
        <p:spPr>
          <a:xfrm>
            <a:off x="9235440" y="2011680"/>
            <a:ext cx="2103120" cy="50292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Products</a:t>
            </a:r>
            <a:endParaRPr lang="en-US" sz="1800" dirty="0"/>
          </a:p>
        </p:txBody>
      </p:sp>
      <p:sp>
        <p:nvSpPr>
          <p:cNvPr id="20" name="Text 15"/>
          <p:cNvSpPr txBox="1"/>
          <p:nvPr/>
        </p:nvSpPr>
        <p:spPr>
          <a:xfrm>
            <a:off x="8595360" y="2606040"/>
            <a:ext cx="1463040" cy="457200"/>
          </a:xfrm>
          <a:prstGeom prst="rect">
            <a:avLst/>
          </a:prstGeom>
          <a:noFill/>
          <a:ln/>
        </p:spPr>
        <p:txBody>
          <a:bodyPr wrap="square" lIns="0" tIns="0" rIns="0" bIns="0" rtlCol="0" anchor="ctr"/>
          <a:lstStyle/>
          <a:p>
            <a:pPr indent="0" marL="0">
              <a:buNone/>
            </a:pPr>
            <a:r>
              <a:rPr lang="en-US" sz="2600" b="1" dirty="0">
                <a:solidFill>
                  <a:srgbClr val="EF7E29"/>
                </a:solidFill>
                <a:latin typeface="Calibri" pitchFamily="34" charset="0"/>
                <a:ea typeface="Calibri" pitchFamily="34" charset="-122"/>
                <a:cs typeface="Calibri" pitchFamily="34" charset="-120"/>
              </a:rPr>
              <a:t>20</a:t>
            </a:r>
            <a:endParaRPr lang="en-US" sz="2600" dirty="0"/>
          </a:p>
        </p:txBody>
      </p:sp>
      <p:sp>
        <p:nvSpPr>
          <p:cNvPr id="21" name="Text 16"/>
          <p:cNvSpPr txBox="1"/>
          <p:nvPr/>
        </p:nvSpPr>
        <p:spPr>
          <a:xfrm>
            <a:off x="8595360" y="3017520"/>
            <a:ext cx="2743200" cy="4114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name, category and price</a:t>
            </a:r>
            <a:endParaRPr lang="en-US" sz="1200" dirty="0"/>
          </a:p>
        </p:txBody>
      </p:sp>
      <p:sp>
        <p:nvSpPr>
          <p:cNvPr id="22" name="Shape 17"/>
          <p:cNvSpPr/>
          <p:nvPr/>
        </p:nvSpPr>
        <p:spPr>
          <a:xfrm>
            <a:off x="4526280" y="3977640"/>
            <a:ext cx="3108960" cy="1691640"/>
          </a:xfrm>
          <a:prstGeom prst="roundRect">
            <a:avLst>
              <a:gd name="adj" fmla="val 5405"/>
            </a:avLst>
          </a:prstGeom>
          <a:solidFill>
            <a:srgbClr val="FFF4EA"/>
          </a:solidFill>
          <a:ln/>
        </p:spPr>
      </p:sp>
      <p:sp>
        <p:nvSpPr>
          <p:cNvPr id="23" name="Shape 18"/>
          <p:cNvSpPr/>
          <p:nvPr/>
        </p:nvSpPr>
        <p:spPr>
          <a:xfrm>
            <a:off x="4709160" y="4160520"/>
            <a:ext cx="502920" cy="502920"/>
          </a:xfrm>
          <a:prstGeom prst="ellipse">
            <a:avLst/>
          </a:prstGeom>
          <a:solidFill>
            <a:srgbClr val="EF7E29"/>
          </a:solidFill>
          <a:ln/>
        </p:spPr>
      </p:sp>
      <p:pic>
        <p:nvPicPr>
          <p:cNvPr id="24" name="Image 3" descr="preencoded.png">    </p:cNvPr>
          <p:cNvPicPr>
            <a:picLocks noChangeAspect="1"/>
          </p:cNvPicPr>
          <p:nvPr/>
        </p:nvPicPr>
        <p:blipFill>
          <a:blip r:embed="rId4"/>
          <a:stretch>
            <a:fillRect/>
          </a:stretch>
        </p:blipFill>
        <p:spPr>
          <a:xfrm>
            <a:off x="4834890" y="4286250"/>
            <a:ext cx="251460" cy="251460"/>
          </a:xfrm>
          <a:prstGeom prst="rect">
            <a:avLst/>
          </a:prstGeom>
        </p:spPr>
      </p:pic>
      <p:sp>
        <p:nvSpPr>
          <p:cNvPr id="25" name="Text 19"/>
          <p:cNvSpPr txBox="1"/>
          <p:nvPr/>
        </p:nvSpPr>
        <p:spPr>
          <a:xfrm>
            <a:off x="5349240" y="4160520"/>
            <a:ext cx="2103120" cy="50292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Payments</a:t>
            </a:r>
            <a:endParaRPr lang="en-US" sz="1800" dirty="0"/>
          </a:p>
        </p:txBody>
      </p:sp>
      <p:sp>
        <p:nvSpPr>
          <p:cNvPr id="26" name="Text 20"/>
          <p:cNvSpPr txBox="1"/>
          <p:nvPr/>
        </p:nvSpPr>
        <p:spPr>
          <a:xfrm>
            <a:off x="4709160" y="4754880"/>
            <a:ext cx="1463040" cy="457200"/>
          </a:xfrm>
          <a:prstGeom prst="rect">
            <a:avLst/>
          </a:prstGeom>
          <a:noFill/>
          <a:ln/>
        </p:spPr>
        <p:txBody>
          <a:bodyPr wrap="square" lIns="0" tIns="0" rIns="0" bIns="0" rtlCol="0" anchor="ctr"/>
          <a:lstStyle/>
          <a:p>
            <a:pPr indent="0" marL="0">
              <a:buNone/>
            </a:pPr>
            <a:r>
              <a:rPr lang="en-US" sz="2600" b="1" dirty="0">
                <a:solidFill>
                  <a:srgbClr val="EF7E29"/>
                </a:solidFill>
                <a:latin typeface="Calibri" pitchFamily="34" charset="0"/>
                <a:ea typeface="Calibri" pitchFamily="34" charset="-122"/>
                <a:cs typeface="Calibri" pitchFamily="34" charset="-120"/>
              </a:rPr>
              <a:t>50,000</a:t>
            </a:r>
            <a:endParaRPr lang="en-US" sz="2600" dirty="0"/>
          </a:p>
        </p:txBody>
      </p:sp>
      <p:sp>
        <p:nvSpPr>
          <p:cNvPr id="27" name="Text 21"/>
          <p:cNvSpPr txBox="1"/>
          <p:nvPr/>
        </p:nvSpPr>
        <p:spPr>
          <a:xfrm>
            <a:off x="4709160" y="5166360"/>
            <a:ext cx="2743200" cy="4114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was each order paid, failed or refunded</a:t>
            </a:r>
            <a:endParaRPr lang="en-US" sz="1200" dirty="0"/>
          </a:p>
        </p:txBody>
      </p:sp>
      <p:sp>
        <p:nvSpPr>
          <p:cNvPr id="28" name="Shape 22"/>
          <p:cNvSpPr/>
          <p:nvPr/>
        </p:nvSpPr>
        <p:spPr>
          <a:xfrm>
            <a:off x="3749040" y="2651760"/>
            <a:ext cx="777240" cy="0"/>
          </a:xfrm>
          <a:prstGeom prst="line">
            <a:avLst/>
          </a:prstGeom>
          <a:noFill/>
          <a:ln w="25400">
            <a:solidFill>
              <a:srgbClr val="00133B"/>
            </a:solidFill>
            <a:prstDash val="solid"/>
            <a:headEnd type="triangle"/>
            <a:tailEnd type="triangle"/>
          </a:ln>
        </p:spPr>
      </p:sp>
      <p:sp>
        <p:nvSpPr>
          <p:cNvPr id="29" name="Shape 23"/>
          <p:cNvSpPr/>
          <p:nvPr/>
        </p:nvSpPr>
        <p:spPr>
          <a:xfrm>
            <a:off x="7635240" y="2651760"/>
            <a:ext cx="777240" cy="0"/>
          </a:xfrm>
          <a:prstGeom prst="line">
            <a:avLst/>
          </a:prstGeom>
          <a:noFill/>
          <a:ln w="25400">
            <a:solidFill>
              <a:srgbClr val="00133B"/>
            </a:solidFill>
            <a:prstDash val="solid"/>
            <a:headEnd type="triangle"/>
            <a:tailEnd type="triangle"/>
          </a:ln>
        </p:spPr>
      </p:sp>
      <p:sp>
        <p:nvSpPr>
          <p:cNvPr id="30" name="Shape 24"/>
          <p:cNvSpPr/>
          <p:nvPr/>
        </p:nvSpPr>
        <p:spPr>
          <a:xfrm>
            <a:off x="6080760" y="3520440"/>
            <a:ext cx="0" cy="457200"/>
          </a:xfrm>
          <a:prstGeom prst="line">
            <a:avLst/>
          </a:prstGeom>
          <a:noFill/>
          <a:ln w="25400">
            <a:solidFill>
              <a:srgbClr val="00133B"/>
            </a:solidFill>
            <a:prstDash val="solid"/>
            <a:headEnd type="triangle"/>
            <a:tailEnd type="triangle"/>
          </a:ln>
        </p:spPr>
      </p:sp>
      <p:sp>
        <p:nvSpPr>
          <p:cNvPr id="31" name="Text 25"/>
          <p:cNvSpPr txBox="1"/>
          <p:nvPr/>
        </p:nvSpPr>
        <p:spPr>
          <a:xfrm>
            <a:off x="3520440" y="2194560"/>
            <a:ext cx="1097280" cy="274320"/>
          </a:xfrm>
          <a:prstGeom prst="rect">
            <a:avLst/>
          </a:prstGeom>
          <a:noFill/>
          <a:ln/>
        </p:spPr>
        <p:txBody>
          <a:bodyPr wrap="square" lIns="0" tIns="0" rIns="0" bIns="0" rtlCol="0" anchor="ctr"/>
          <a:lstStyle/>
          <a:p>
            <a:pPr algn="ctr" indent="0" marL="0">
              <a:buNone/>
            </a:pPr>
            <a:r>
              <a:rPr lang="en-US" sz="1100" dirty="0">
                <a:solidFill>
                  <a:srgbClr val="5A6272"/>
                </a:solidFill>
                <a:latin typeface="Calibri" pitchFamily="34" charset="0"/>
                <a:ea typeface="Calibri" pitchFamily="34" charset="-122"/>
                <a:cs typeface="Calibri" pitchFamily="34" charset="-120"/>
              </a:rPr>
              <a:t>CustomerID</a:t>
            </a:r>
            <a:endParaRPr lang="en-US" sz="1100" dirty="0"/>
          </a:p>
        </p:txBody>
      </p:sp>
      <p:sp>
        <p:nvSpPr>
          <p:cNvPr id="32" name="Text 26"/>
          <p:cNvSpPr txBox="1"/>
          <p:nvPr/>
        </p:nvSpPr>
        <p:spPr>
          <a:xfrm>
            <a:off x="7498080" y="2194560"/>
            <a:ext cx="1097280" cy="274320"/>
          </a:xfrm>
          <a:prstGeom prst="rect">
            <a:avLst/>
          </a:prstGeom>
          <a:noFill/>
          <a:ln/>
        </p:spPr>
        <p:txBody>
          <a:bodyPr wrap="square" lIns="0" tIns="0" rIns="0" bIns="0" rtlCol="0" anchor="ctr"/>
          <a:lstStyle/>
          <a:p>
            <a:pPr algn="ctr" indent="0" marL="0">
              <a:buNone/>
            </a:pPr>
            <a:r>
              <a:rPr lang="en-US" sz="1100" dirty="0">
                <a:solidFill>
                  <a:srgbClr val="5A6272"/>
                </a:solidFill>
                <a:latin typeface="Calibri" pitchFamily="34" charset="0"/>
                <a:ea typeface="Calibri" pitchFamily="34" charset="-122"/>
                <a:cs typeface="Calibri" pitchFamily="34" charset="-120"/>
              </a:rPr>
              <a:t>ProductID</a:t>
            </a:r>
            <a:endParaRPr lang="en-US" sz="1100" dirty="0"/>
          </a:p>
        </p:txBody>
      </p:sp>
      <p:sp>
        <p:nvSpPr>
          <p:cNvPr id="33" name="Text 27"/>
          <p:cNvSpPr txBox="1"/>
          <p:nvPr/>
        </p:nvSpPr>
        <p:spPr>
          <a:xfrm>
            <a:off x="6172200" y="3611880"/>
            <a:ext cx="914400" cy="274320"/>
          </a:xfrm>
          <a:prstGeom prst="rect">
            <a:avLst/>
          </a:prstGeom>
          <a:noFill/>
          <a:ln/>
        </p:spPr>
        <p:txBody>
          <a:bodyPr wrap="square" lIns="0" tIns="0" rIns="0" bIns="0" rtlCol="0" anchor="ctr"/>
          <a:lstStyle/>
          <a:p>
            <a:pPr indent="0" marL="0">
              <a:buNone/>
            </a:pPr>
            <a:r>
              <a:rPr lang="en-US" sz="1100" dirty="0">
                <a:solidFill>
                  <a:srgbClr val="5A6272"/>
                </a:solidFill>
                <a:latin typeface="Calibri" pitchFamily="34" charset="0"/>
                <a:ea typeface="Calibri" pitchFamily="34" charset="-122"/>
                <a:cs typeface="Calibri" pitchFamily="34" charset="-120"/>
              </a:rPr>
              <a:t>OrderID</a:t>
            </a:r>
            <a:endParaRPr lang="en-US" sz="1100" dirty="0"/>
          </a:p>
        </p:txBody>
      </p:sp>
      <p:sp>
        <p:nvSpPr>
          <p:cNvPr id="34" name="Text 28"/>
          <p:cNvSpPr txBox="1"/>
          <p:nvPr/>
        </p:nvSpPr>
        <p:spPr>
          <a:xfrm>
            <a:off x="8229600" y="3977640"/>
            <a:ext cx="3383280" cy="1691640"/>
          </a:xfrm>
          <a:prstGeom prst="rect">
            <a:avLst/>
          </a:prstGeom>
          <a:noFill/>
          <a:ln/>
        </p:spPr>
        <p:txBody>
          <a:bodyPr wrap="square" lIns="0" tIns="0" rIns="0" bIns="0" rtlCol="0" anchor="t"/>
          <a:lstStyle/>
          <a:p>
            <a:pPr indent="0" marL="0">
              <a:buNone/>
            </a:pPr>
            <a:r>
              <a:rPr lang="en-US" sz="1300" b="1" dirty="0">
                <a:solidFill>
                  <a:srgbClr val="00133B"/>
                </a:solidFill>
                <a:latin typeface="Calibri" pitchFamily="34" charset="0"/>
                <a:ea typeface="Calibri" pitchFamily="34" charset="-122"/>
                <a:cs typeface="Calibri" pitchFamily="34" charset="-120"/>
              </a:rPr>
              <a:t>How we cleaned it: </a:t>
            </a:r>
            <a:pPr indent="0" marL="0">
              <a:buNone/>
            </a:pPr>
            <a:r>
              <a:rPr lang="en-US" sz="1300" dirty="0">
                <a:solidFill>
                  <a:srgbClr val="222222"/>
                </a:solidFill>
                <a:latin typeface="Calibri" pitchFamily="34" charset="0"/>
                <a:ea typeface="Calibri" pitchFamily="34" charset="-122"/>
                <a:cs typeface="Calibri" pitchFamily="34" charset="-120"/>
              </a:rPr>
              <a:t>120 duplicate orders removed, blank values filled in carefully or labelled 'Unknown', and spelling of city names fixed. 30 guest orders (0.06% of revenue) were kept and flagged.</a:t>
            </a:r>
            <a:endParaRPr lang="en-US" sz="1300" dirty="0"/>
          </a:p>
        </p:txBody>
      </p:sp>
      <p:sp>
        <p:nvSpPr>
          <p:cNvPr id="35" name="Text 29"/>
          <p:cNvSpPr txBox="1"/>
          <p:nvPr/>
        </p:nvSpPr>
        <p:spPr>
          <a:xfrm>
            <a:off x="548640" y="5760720"/>
            <a:ext cx="10607040" cy="502920"/>
          </a:xfrm>
          <a:prstGeom prst="rect">
            <a:avLst/>
          </a:prstGeom>
          <a:noFill/>
          <a:ln/>
        </p:spPr>
        <p:txBody>
          <a:bodyPr wrap="square" lIns="0" tIns="0" rIns="0" bIns="0" rtlCol="0" anchor="ctr"/>
          <a:lstStyle/>
          <a:p>
            <a:pPr indent="0" marL="0">
              <a:buNone/>
            </a:pPr>
            <a:r>
              <a:rPr lang="en-US" sz="1300" i="1" dirty="0">
                <a:solidFill>
                  <a:srgbClr val="5A6272"/>
                </a:solidFill>
                <a:latin typeface="Calibri" pitchFamily="34" charset="0"/>
                <a:ea typeface="Calibri" pitchFamily="34" charset="-122"/>
                <a:cs typeface="Calibri" pitchFamily="34" charset="-120"/>
              </a:rPr>
              <a:t>Every order links to one customer, one product and one payment, so no sale is lost when the tables are combined (50,000 orders in, 50,000 out).</a:t>
            </a:r>
            <a:endParaRPr lang="en-US" sz="1300" dirty="0"/>
          </a:p>
        </p:txBody>
      </p:sp>
      <p:pic>
        <p:nvPicPr>
          <p:cNvPr id="36" name="Image 4" descr="Bright_Store_Analysis_logo.png">    </p:cNvPr>
          <p:cNvPicPr>
            <a:picLocks noChangeAspect="1"/>
          </p:cNvPicPr>
          <p:nvPr/>
        </p:nvPicPr>
        <p:blipFill>
          <a:blip r:embed="rId5"/>
          <a:stretch>
            <a:fillRect/>
          </a:stretch>
        </p:blipFill>
        <p:spPr>
          <a:xfrm>
            <a:off x="548640" y="6382512"/>
            <a:ext cx="1243584" cy="291112"/>
          </a:xfrm>
          <a:prstGeom prst="rect">
            <a:avLst/>
          </a:prstGeom>
        </p:spPr>
      </p:pic>
      <p:sp>
        <p:nvSpPr>
          <p:cNvPr id="37" name="Text 30"/>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How we count revenue</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Only money the shop actually kept counts as revenue</a:t>
            </a:r>
            <a:endParaRPr lang="en-US" sz="1600" dirty="0"/>
          </a:p>
        </p:txBody>
      </p:sp>
      <p:sp>
        <p:nvSpPr>
          <p:cNvPr id="4" name="Shape 2"/>
          <p:cNvSpPr/>
          <p:nvPr/>
        </p:nvSpPr>
        <p:spPr>
          <a:xfrm>
            <a:off x="548640" y="1645920"/>
            <a:ext cx="4206240" cy="4297680"/>
          </a:xfrm>
          <a:prstGeom prst="roundRect">
            <a:avLst>
              <a:gd name="adj" fmla="val 2174"/>
            </a:avLst>
          </a:prstGeom>
          <a:solidFill>
            <a:srgbClr val="FFF4EA"/>
          </a:solidFill>
          <a:ln/>
        </p:spPr>
      </p:sp>
      <p:sp>
        <p:nvSpPr>
          <p:cNvPr id="5" name="Text 3"/>
          <p:cNvSpPr txBox="1"/>
          <p:nvPr/>
        </p:nvSpPr>
        <p:spPr>
          <a:xfrm>
            <a:off x="822960" y="1783080"/>
            <a:ext cx="3657600" cy="36576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The calculation</a:t>
            </a:r>
            <a:endParaRPr lang="en-US" sz="1800" dirty="0"/>
          </a:p>
        </p:txBody>
      </p:sp>
      <p:sp>
        <p:nvSpPr>
          <p:cNvPr id="6" name="Text 4"/>
          <p:cNvSpPr txBox="1"/>
          <p:nvPr/>
        </p:nvSpPr>
        <p:spPr>
          <a:xfrm>
            <a:off x="822960" y="2240280"/>
            <a:ext cx="3657600" cy="27432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Revenue of an order</a:t>
            </a:r>
            <a:endParaRPr lang="en-US" sz="1300" dirty="0"/>
          </a:p>
        </p:txBody>
      </p:sp>
      <p:sp>
        <p:nvSpPr>
          <p:cNvPr id="7" name="Text 5"/>
          <p:cNvSpPr txBox="1"/>
          <p:nvPr/>
        </p:nvSpPr>
        <p:spPr>
          <a:xfrm>
            <a:off x="822960" y="2514600"/>
            <a:ext cx="3657600" cy="457200"/>
          </a:xfrm>
          <a:prstGeom prst="rect">
            <a:avLst/>
          </a:prstGeom>
          <a:noFill/>
          <a:ln/>
        </p:spPr>
        <p:txBody>
          <a:bodyPr wrap="square" lIns="0" tIns="0" rIns="0" bIns="0" rtlCol="0" anchor="ctr"/>
          <a:lstStyle/>
          <a:p>
            <a:pPr indent="0" marL="0">
              <a:buNone/>
            </a:pPr>
            <a:r>
              <a:rPr lang="en-US" sz="1800" b="1" dirty="0">
                <a:solidFill>
                  <a:srgbClr val="EF7E29"/>
                </a:solidFill>
                <a:latin typeface="Calibri" pitchFamily="34" charset="0"/>
                <a:ea typeface="Calibri" pitchFamily="34" charset="-122"/>
                <a:cs typeface="Calibri" pitchFamily="34" charset="-120"/>
              </a:rPr>
              <a:t>Quantity  x  Price  x  (1 - Discount)</a:t>
            </a:r>
            <a:endParaRPr lang="en-US" sz="1800" dirty="0"/>
          </a:p>
        </p:txBody>
      </p:sp>
      <p:sp>
        <p:nvSpPr>
          <p:cNvPr id="8" name="Text 6"/>
          <p:cNvSpPr txBox="1"/>
          <p:nvPr/>
        </p:nvSpPr>
        <p:spPr>
          <a:xfrm>
            <a:off x="822960" y="3017520"/>
            <a:ext cx="365760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Example: 4 USB-C cables at R9 with a 10% discount = 4 x R9 x 0.90 = R32.40</a:t>
            </a:r>
            <a:endParaRPr lang="en-US" sz="1200" dirty="0"/>
          </a:p>
        </p:txBody>
      </p:sp>
      <p:sp>
        <p:nvSpPr>
          <p:cNvPr id="9" name="Text 7"/>
          <p:cNvSpPr txBox="1"/>
          <p:nvPr/>
        </p:nvSpPr>
        <p:spPr>
          <a:xfrm>
            <a:off x="822960" y="3703320"/>
            <a:ext cx="3657600" cy="27432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What counts</a:t>
            </a:r>
            <a:endParaRPr lang="en-US" sz="1300" dirty="0"/>
          </a:p>
        </p:txBody>
      </p:sp>
      <p:sp>
        <p:nvSpPr>
          <p:cNvPr id="10" name="Text 8"/>
          <p:cNvSpPr txBox="1"/>
          <p:nvPr/>
        </p:nvSpPr>
        <p:spPr>
          <a:xfrm>
            <a:off x="822960" y="3977640"/>
            <a:ext cx="3657600" cy="1828800"/>
          </a:xfrm>
          <a:prstGeom prst="rect">
            <a:avLst/>
          </a:prstGeom>
          <a:noFill/>
          <a:ln/>
        </p:spPr>
        <p:txBody>
          <a:bodyPr wrap="square" lIns="0" tIns="0" rIns="0" bIns="0" rtlCol="0" anchor="t"/>
          <a:lstStyle/>
          <a:p>
            <a:pPr indent="0" marL="0">
              <a:buNone/>
            </a:pPr>
            <a:r>
              <a:rPr lang="en-US" sz="1400" b="1" dirty="0">
                <a:solidFill>
                  <a:srgbClr val="00133B"/>
                </a:solidFill>
                <a:latin typeface="Calibri" pitchFamily="34" charset="0"/>
                <a:ea typeface="Calibri" pitchFamily="34" charset="-122"/>
                <a:cs typeface="Calibri" pitchFamily="34" charset="-120"/>
              </a:rPr>
              <a:t>Net revenue</a:t>
            </a:r>
            <a:pPr indent="0" marL="0">
              <a:buNone/>
            </a:pPr>
            <a:r>
              <a:rPr lang="en-US" sz="1400" dirty="0">
                <a:solidFill>
                  <a:srgbClr val="222222"/>
                </a:solidFill>
                <a:latin typeface="Calibri" pitchFamily="34" charset="0"/>
                <a:ea typeface="Calibri" pitchFamily="34" charset="-122"/>
                <a:cs typeface="Calibri" pitchFamily="34" charset="-120"/>
              </a:rPr>
              <a:t> = only orders that are </a:t>
            </a:r>
            <a:pPr indent="0" marL="0">
              <a:buNone/>
            </a:pPr>
            <a:r>
              <a:rPr lang="en-US" sz="1400" b="1" dirty="0">
                <a:solidFill>
                  <a:srgbClr val="EF7E29"/>
                </a:solidFill>
                <a:latin typeface="Calibri" pitchFamily="34" charset="0"/>
                <a:ea typeface="Calibri" pitchFamily="34" charset="-122"/>
                <a:cs typeface="Calibri" pitchFamily="34" charset="-120"/>
              </a:rPr>
              <a:t>Completed AND Paid</a:t>
            </a:r>
            <a:pPr indent="0" marL="0">
              <a:buNone/>
            </a:pPr>
            <a:r>
              <a:rPr lang="en-US" sz="1400" dirty="0">
                <a:solidFill>
                  <a:srgbClr val="222222"/>
                </a:solidFill>
                <a:latin typeface="Calibri" pitchFamily="34" charset="0"/>
                <a:ea typeface="Calibri" pitchFamily="34" charset="-122"/>
                <a:cs typeface="Calibri" pitchFamily="34" charset="-120"/>
              </a:rPr>
              <a:t>. Cancelled, returned, failed and refunded orders are left out, because that money did not stay with the shop.</a:t>
            </a:r>
            <a:endParaRPr lang="en-US" sz="1400" dirty="0"/>
          </a:p>
        </p:txBody>
      </p:sp>
      <p:sp>
        <p:nvSpPr>
          <p:cNvPr id="11" name="Text 9"/>
          <p:cNvSpPr txBox="1"/>
          <p:nvPr/>
        </p:nvSpPr>
        <p:spPr>
          <a:xfrm>
            <a:off x="5029200" y="1645920"/>
            <a:ext cx="658368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From R3,503,500 gross to R2,998,463 net</a:t>
            </a:r>
            <a:endParaRPr lang="en-US" sz="1400" dirty="0"/>
          </a:p>
        </p:txBody>
      </p:sp>
      <p:graphicFrame>
        <p:nvGraphicFramePr>
          <p:cNvPr id="12" name="Chart 0" descr=""/>
          <p:cNvGraphicFramePr/>
          <p:nvPr/>
        </p:nvGraphicFramePr>
        <p:xfrm>
          <a:off x="4937760" y="1965960"/>
          <a:ext cx="6675120" cy="35204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029200" y="5532120"/>
            <a:ext cx="6583680" cy="274320"/>
          </a:xfrm>
          <a:prstGeom prst="rect">
            <a:avLst/>
          </a:prstGeom>
          <a:noFill/>
          <a:ln/>
        </p:spPr>
        <p:txBody>
          <a:bodyPr wrap="square" lIns="0" tIns="0" rIns="0" bIns="0" rtlCol="0" anchor="ctr"/>
          <a:lstStyle/>
          <a:p>
            <a:pPr indent="0" marL="0">
              <a:buNone/>
            </a:pPr>
            <a:r>
              <a:rPr lang="en-US" sz="1100" i="1" dirty="0">
                <a:solidFill>
                  <a:srgbClr val="5A6272"/>
                </a:solidFill>
                <a:latin typeface="Calibri" pitchFamily="34" charset="0"/>
                <a:ea typeface="Calibri" pitchFamily="34" charset="-122"/>
                <a:cs typeface="Calibri" pitchFamily="34" charset="-120"/>
              </a:rPr>
              <a:t>The vertical axis starts at R2.4 million so the amounts left out are easy to see.</a:t>
            </a:r>
            <a:endParaRPr lang="en-US" sz="1100" dirty="0"/>
          </a:p>
        </p:txBody>
      </p:sp>
      <p:pic>
        <p:nvPicPr>
          <p:cNvPr id="14" name="Image 0" descr="Bright_Store_Analysis_logo.png">    </p:cNvPr>
          <p:cNvPicPr>
            <a:picLocks noChangeAspect="1"/>
          </p:cNvPicPr>
          <p:nvPr/>
        </p:nvPicPr>
        <p:blipFill>
          <a:blip r:embed="rId2"/>
          <a:stretch>
            <a:fillRect/>
          </a:stretch>
        </p:blipFill>
        <p:spPr>
          <a:xfrm>
            <a:off x="548640" y="6382512"/>
            <a:ext cx="1243584" cy="291112"/>
          </a:xfrm>
          <a:prstGeom prst="rect">
            <a:avLst/>
          </a:prstGeom>
        </p:spPr>
      </p:pic>
      <p:sp>
        <p:nvSpPr>
          <p:cNvPr id="15" name="Text 11"/>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Key numbers: sales</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KPI means 'key performance indicator': a single number that tells us how we are doing</a:t>
            </a:r>
            <a:endParaRPr lang="en-US" sz="1600" dirty="0"/>
          </a:p>
        </p:txBody>
      </p:sp>
      <p:sp>
        <p:nvSpPr>
          <p:cNvPr id="4" name="Shape 2"/>
          <p:cNvSpPr/>
          <p:nvPr/>
        </p:nvSpPr>
        <p:spPr>
          <a:xfrm>
            <a:off x="548640" y="1645920"/>
            <a:ext cx="5440680" cy="2011680"/>
          </a:xfrm>
          <a:prstGeom prst="roundRect">
            <a:avLst>
              <a:gd name="adj" fmla="val 4545"/>
            </a:avLst>
          </a:prstGeom>
          <a:solidFill>
            <a:srgbClr val="FFF4EA"/>
          </a:solidFill>
          <a:ln/>
        </p:spPr>
      </p:sp>
      <p:sp>
        <p:nvSpPr>
          <p:cNvPr id="5" name="Shape 3"/>
          <p:cNvSpPr/>
          <p:nvPr/>
        </p:nvSpPr>
        <p:spPr>
          <a:xfrm>
            <a:off x="777240" y="1874520"/>
            <a:ext cx="548640" cy="548640"/>
          </a:xfrm>
          <a:prstGeom prst="ellipse">
            <a:avLst/>
          </a:prstGeom>
          <a:solidFill>
            <a:srgbClr val="EF7E29"/>
          </a:solidFill>
          <a:ln/>
        </p:spPr>
      </p:sp>
      <p:pic>
        <p:nvPicPr>
          <p:cNvPr id="6" name="Image 0" descr="preencoded.png">    </p:cNvPr>
          <p:cNvPicPr>
            <a:picLocks noChangeAspect="1"/>
          </p:cNvPicPr>
          <p:nvPr/>
        </p:nvPicPr>
        <p:blipFill>
          <a:blip r:embed="rId1"/>
          <a:stretch>
            <a:fillRect/>
          </a:stretch>
        </p:blipFill>
        <p:spPr>
          <a:xfrm>
            <a:off x="914400" y="2011680"/>
            <a:ext cx="274320" cy="274320"/>
          </a:xfrm>
          <a:prstGeom prst="rect">
            <a:avLst/>
          </a:prstGeom>
        </p:spPr>
      </p:pic>
      <p:sp>
        <p:nvSpPr>
          <p:cNvPr id="7" name="Text 4"/>
          <p:cNvSpPr txBox="1"/>
          <p:nvPr/>
        </p:nvSpPr>
        <p:spPr>
          <a:xfrm>
            <a:off x="1463040" y="187452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Net revenue</a:t>
            </a:r>
            <a:endParaRPr lang="en-US" sz="1600" dirty="0"/>
          </a:p>
        </p:txBody>
      </p:sp>
      <p:sp>
        <p:nvSpPr>
          <p:cNvPr id="8" name="Text 5"/>
          <p:cNvSpPr txBox="1"/>
          <p:nvPr/>
        </p:nvSpPr>
        <p:spPr>
          <a:xfrm>
            <a:off x="3657600" y="182880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R2,998,463</a:t>
            </a:r>
            <a:endParaRPr lang="en-US" sz="3000" dirty="0"/>
          </a:p>
        </p:txBody>
      </p:sp>
      <p:sp>
        <p:nvSpPr>
          <p:cNvPr id="9" name="Text 6"/>
          <p:cNvSpPr txBox="1"/>
          <p:nvPr/>
        </p:nvSpPr>
        <p:spPr>
          <a:xfrm>
            <a:off x="777240" y="256032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add up Quantity x Price x (1 - Discount) for Completed and Paid orders.</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it is the money the shop really earned, the headline measure of success.</a:t>
            </a:r>
            <a:endParaRPr lang="en-US" sz="1200" dirty="0"/>
          </a:p>
        </p:txBody>
      </p:sp>
      <p:sp>
        <p:nvSpPr>
          <p:cNvPr id="10" name="Shape 7"/>
          <p:cNvSpPr/>
          <p:nvPr/>
        </p:nvSpPr>
        <p:spPr>
          <a:xfrm>
            <a:off x="6172200" y="1645920"/>
            <a:ext cx="5440680" cy="2011680"/>
          </a:xfrm>
          <a:prstGeom prst="roundRect">
            <a:avLst>
              <a:gd name="adj" fmla="val 4545"/>
            </a:avLst>
          </a:prstGeom>
          <a:solidFill>
            <a:srgbClr val="FFF4EA"/>
          </a:solidFill>
          <a:ln/>
        </p:spPr>
      </p:sp>
      <p:sp>
        <p:nvSpPr>
          <p:cNvPr id="11" name="Shape 8"/>
          <p:cNvSpPr/>
          <p:nvPr/>
        </p:nvSpPr>
        <p:spPr>
          <a:xfrm>
            <a:off x="6400800" y="1874520"/>
            <a:ext cx="548640" cy="548640"/>
          </a:xfrm>
          <a:prstGeom prst="ellipse">
            <a:avLst/>
          </a:prstGeom>
          <a:solidFill>
            <a:srgbClr val="EF7E29"/>
          </a:solidFill>
          <a:ln/>
        </p:spPr>
      </p:sp>
      <p:pic>
        <p:nvPicPr>
          <p:cNvPr id="12" name="Image 1" descr="preencoded.png">    </p:cNvPr>
          <p:cNvPicPr>
            <a:picLocks noChangeAspect="1"/>
          </p:cNvPicPr>
          <p:nvPr/>
        </p:nvPicPr>
        <p:blipFill>
          <a:blip r:embed="rId2"/>
          <a:stretch>
            <a:fillRect/>
          </a:stretch>
        </p:blipFill>
        <p:spPr>
          <a:xfrm>
            <a:off x="6537960" y="2011680"/>
            <a:ext cx="274320" cy="274320"/>
          </a:xfrm>
          <a:prstGeom prst="rect">
            <a:avLst/>
          </a:prstGeom>
        </p:spPr>
      </p:pic>
      <p:sp>
        <p:nvSpPr>
          <p:cNvPr id="13" name="Text 9"/>
          <p:cNvSpPr txBox="1"/>
          <p:nvPr/>
        </p:nvSpPr>
        <p:spPr>
          <a:xfrm>
            <a:off x="7086600" y="187452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Realised orders</a:t>
            </a:r>
            <a:endParaRPr lang="en-US" sz="1600" dirty="0"/>
          </a:p>
        </p:txBody>
      </p:sp>
      <p:sp>
        <p:nvSpPr>
          <p:cNvPr id="14" name="Text 10"/>
          <p:cNvSpPr txBox="1"/>
          <p:nvPr/>
        </p:nvSpPr>
        <p:spPr>
          <a:xfrm>
            <a:off x="9281160" y="182880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42,849</a:t>
            </a:r>
            <a:endParaRPr lang="en-US" sz="3000" dirty="0"/>
          </a:p>
        </p:txBody>
      </p:sp>
      <p:sp>
        <p:nvSpPr>
          <p:cNvPr id="15" name="Text 11"/>
          <p:cNvSpPr txBox="1"/>
          <p:nvPr/>
        </p:nvSpPr>
        <p:spPr>
          <a:xfrm>
            <a:off x="6400800" y="256032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count the orders that are Completed and Paid (out of 50,000 placed).</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it shows how many sales really happened, not just how many were attempted.</a:t>
            </a:r>
            <a:endParaRPr lang="en-US" sz="1200" dirty="0"/>
          </a:p>
        </p:txBody>
      </p:sp>
      <p:sp>
        <p:nvSpPr>
          <p:cNvPr id="16" name="Shape 12"/>
          <p:cNvSpPr/>
          <p:nvPr/>
        </p:nvSpPr>
        <p:spPr>
          <a:xfrm>
            <a:off x="548640" y="3840480"/>
            <a:ext cx="5440680" cy="2011680"/>
          </a:xfrm>
          <a:prstGeom prst="roundRect">
            <a:avLst>
              <a:gd name="adj" fmla="val 4545"/>
            </a:avLst>
          </a:prstGeom>
          <a:solidFill>
            <a:srgbClr val="FFF4EA"/>
          </a:solidFill>
          <a:ln/>
        </p:spPr>
      </p:sp>
      <p:sp>
        <p:nvSpPr>
          <p:cNvPr id="17" name="Shape 13"/>
          <p:cNvSpPr/>
          <p:nvPr/>
        </p:nvSpPr>
        <p:spPr>
          <a:xfrm>
            <a:off x="777240" y="4069080"/>
            <a:ext cx="548640" cy="548640"/>
          </a:xfrm>
          <a:prstGeom prst="ellipse">
            <a:avLst/>
          </a:prstGeom>
          <a:solidFill>
            <a:srgbClr val="EF7E29"/>
          </a:solidFill>
          <a:ln/>
        </p:spPr>
      </p:sp>
      <p:pic>
        <p:nvPicPr>
          <p:cNvPr id="18" name="Image 2" descr="preencoded.png">    </p:cNvPr>
          <p:cNvPicPr>
            <a:picLocks noChangeAspect="1"/>
          </p:cNvPicPr>
          <p:nvPr/>
        </p:nvPicPr>
        <p:blipFill>
          <a:blip r:embed="rId3"/>
          <a:stretch>
            <a:fillRect/>
          </a:stretch>
        </p:blipFill>
        <p:spPr>
          <a:xfrm>
            <a:off x="914400" y="4206240"/>
            <a:ext cx="274320" cy="274320"/>
          </a:xfrm>
          <a:prstGeom prst="rect">
            <a:avLst/>
          </a:prstGeom>
        </p:spPr>
      </p:pic>
      <p:sp>
        <p:nvSpPr>
          <p:cNvPr id="19" name="Text 14"/>
          <p:cNvSpPr txBox="1"/>
          <p:nvPr/>
        </p:nvSpPr>
        <p:spPr>
          <a:xfrm>
            <a:off x="1463040" y="406908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Average order value</a:t>
            </a:r>
            <a:endParaRPr lang="en-US" sz="1600" dirty="0"/>
          </a:p>
        </p:txBody>
      </p:sp>
      <p:sp>
        <p:nvSpPr>
          <p:cNvPr id="20" name="Text 15"/>
          <p:cNvSpPr txBox="1"/>
          <p:nvPr/>
        </p:nvSpPr>
        <p:spPr>
          <a:xfrm>
            <a:off x="3657600" y="402336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R69.98</a:t>
            </a:r>
            <a:endParaRPr lang="en-US" sz="3000" dirty="0"/>
          </a:p>
        </p:txBody>
      </p:sp>
      <p:sp>
        <p:nvSpPr>
          <p:cNvPr id="21" name="Text 16"/>
          <p:cNvSpPr txBox="1"/>
          <p:nvPr/>
        </p:nvSpPr>
        <p:spPr>
          <a:xfrm>
            <a:off x="777240" y="475488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net revenue divided by the number of realised orders.</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it tells us how much a typical sale is worth; raising it grows revenue without needing more customers.</a:t>
            </a:r>
            <a:endParaRPr lang="en-US" sz="1200" dirty="0"/>
          </a:p>
        </p:txBody>
      </p:sp>
      <p:sp>
        <p:nvSpPr>
          <p:cNvPr id="22" name="Shape 17"/>
          <p:cNvSpPr/>
          <p:nvPr/>
        </p:nvSpPr>
        <p:spPr>
          <a:xfrm>
            <a:off x="6172200" y="3840480"/>
            <a:ext cx="5440680" cy="2011680"/>
          </a:xfrm>
          <a:prstGeom prst="roundRect">
            <a:avLst>
              <a:gd name="adj" fmla="val 4545"/>
            </a:avLst>
          </a:prstGeom>
          <a:solidFill>
            <a:srgbClr val="FFF4EA"/>
          </a:solidFill>
          <a:ln/>
        </p:spPr>
      </p:sp>
      <p:sp>
        <p:nvSpPr>
          <p:cNvPr id="23" name="Shape 18"/>
          <p:cNvSpPr/>
          <p:nvPr/>
        </p:nvSpPr>
        <p:spPr>
          <a:xfrm>
            <a:off x="6400800" y="4069080"/>
            <a:ext cx="548640" cy="548640"/>
          </a:xfrm>
          <a:prstGeom prst="ellipse">
            <a:avLst/>
          </a:prstGeom>
          <a:solidFill>
            <a:srgbClr val="EF7E29"/>
          </a:solidFill>
          <a:ln/>
        </p:spPr>
      </p:sp>
      <p:pic>
        <p:nvPicPr>
          <p:cNvPr id="24" name="Image 3" descr="preencoded.png">    </p:cNvPr>
          <p:cNvPicPr>
            <a:picLocks noChangeAspect="1"/>
          </p:cNvPicPr>
          <p:nvPr/>
        </p:nvPicPr>
        <p:blipFill>
          <a:blip r:embed="rId4"/>
          <a:stretch>
            <a:fillRect/>
          </a:stretch>
        </p:blipFill>
        <p:spPr>
          <a:xfrm>
            <a:off x="6537960" y="4206240"/>
            <a:ext cx="274320" cy="274320"/>
          </a:xfrm>
          <a:prstGeom prst="rect">
            <a:avLst/>
          </a:prstGeom>
        </p:spPr>
      </p:pic>
      <p:sp>
        <p:nvSpPr>
          <p:cNvPr id="25" name="Text 19"/>
          <p:cNvSpPr txBox="1"/>
          <p:nvPr/>
        </p:nvSpPr>
        <p:spPr>
          <a:xfrm>
            <a:off x="7086600" y="406908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Units sold</a:t>
            </a:r>
            <a:endParaRPr lang="en-US" sz="1600" dirty="0"/>
          </a:p>
        </p:txBody>
      </p:sp>
      <p:sp>
        <p:nvSpPr>
          <p:cNvPr id="26" name="Text 20"/>
          <p:cNvSpPr txBox="1"/>
          <p:nvPr/>
        </p:nvSpPr>
        <p:spPr>
          <a:xfrm>
            <a:off x="9281160" y="402336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80,698</a:t>
            </a:r>
            <a:endParaRPr lang="en-US" sz="3000" dirty="0"/>
          </a:p>
        </p:txBody>
      </p:sp>
      <p:sp>
        <p:nvSpPr>
          <p:cNvPr id="27" name="Text 21"/>
          <p:cNvSpPr txBox="1"/>
          <p:nvPr/>
        </p:nvSpPr>
        <p:spPr>
          <a:xfrm>
            <a:off x="6400800" y="475488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add up the quantities on the realised orders.</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it shows how much stock moves, which can differ from the money earned.</a:t>
            </a:r>
            <a:endParaRPr lang="en-US" sz="1200" dirty="0"/>
          </a:p>
        </p:txBody>
      </p:sp>
      <p:pic>
        <p:nvPicPr>
          <p:cNvPr id="28" name="Image 4" descr="Bright_Store_Analysis_logo.png">    </p:cNvPr>
          <p:cNvPicPr>
            <a:picLocks noChangeAspect="1"/>
          </p:cNvPicPr>
          <p:nvPr/>
        </p:nvPicPr>
        <p:blipFill>
          <a:blip r:embed="rId5"/>
          <a:stretch>
            <a:fillRect/>
          </a:stretch>
        </p:blipFill>
        <p:spPr>
          <a:xfrm>
            <a:off x="548640" y="6382512"/>
            <a:ext cx="1243584" cy="291112"/>
          </a:xfrm>
          <a:prstGeom prst="rect">
            <a:avLst/>
          </a:prstGeom>
        </p:spPr>
      </p:pic>
      <p:sp>
        <p:nvSpPr>
          <p:cNvPr id="29" name="Text 2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Key numbers: health of the business</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These numbers show how much we lose, and where</a:t>
            </a:r>
            <a:endParaRPr lang="en-US" sz="1600" dirty="0"/>
          </a:p>
        </p:txBody>
      </p:sp>
      <p:sp>
        <p:nvSpPr>
          <p:cNvPr id="4" name="Shape 2"/>
          <p:cNvSpPr/>
          <p:nvPr/>
        </p:nvSpPr>
        <p:spPr>
          <a:xfrm>
            <a:off x="548640" y="1645920"/>
            <a:ext cx="5440680" cy="2011680"/>
          </a:xfrm>
          <a:prstGeom prst="roundRect">
            <a:avLst>
              <a:gd name="adj" fmla="val 4545"/>
            </a:avLst>
          </a:prstGeom>
          <a:solidFill>
            <a:srgbClr val="FFF4EA"/>
          </a:solidFill>
          <a:ln/>
        </p:spPr>
      </p:sp>
      <p:sp>
        <p:nvSpPr>
          <p:cNvPr id="5" name="Shape 3"/>
          <p:cNvSpPr/>
          <p:nvPr/>
        </p:nvSpPr>
        <p:spPr>
          <a:xfrm>
            <a:off x="777240" y="1874520"/>
            <a:ext cx="548640" cy="548640"/>
          </a:xfrm>
          <a:prstGeom prst="ellipse">
            <a:avLst/>
          </a:prstGeom>
          <a:solidFill>
            <a:srgbClr val="EF7E29"/>
          </a:solidFill>
          <a:ln/>
        </p:spPr>
      </p:sp>
      <p:pic>
        <p:nvPicPr>
          <p:cNvPr id="6" name="Image 0" descr="preencoded.png">    </p:cNvPr>
          <p:cNvPicPr>
            <a:picLocks noChangeAspect="1"/>
          </p:cNvPicPr>
          <p:nvPr/>
        </p:nvPicPr>
        <p:blipFill>
          <a:blip r:embed="rId1"/>
          <a:stretch>
            <a:fillRect/>
          </a:stretch>
        </p:blipFill>
        <p:spPr>
          <a:xfrm>
            <a:off x="914400" y="2011680"/>
            <a:ext cx="274320" cy="274320"/>
          </a:xfrm>
          <a:prstGeom prst="rect">
            <a:avLst/>
          </a:prstGeom>
        </p:spPr>
      </p:pic>
      <p:sp>
        <p:nvSpPr>
          <p:cNvPr id="7" name="Text 4"/>
          <p:cNvSpPr txBox="1"/>
          <p:nvPr/>
        </p:nvSpPr>
        <p:spPr>
          <a:xfrm>
            <a:off x="1463040" y="187452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Not completed</a:t>
            </a:r>
            <a:endParaRPr lang="en-US" sz="1600" dirty="0"/>
          </a:p>
        </p:txBody>
      </p:sp>
      <p:sp>
        <p:nvSpPr>
          <p:cNvPr id="8" name="Text 5"/>
          <p:cNvSpPr txBox="1"/>
          <p:nvPr/>
        </p:nvSpPr>
        <p:spPr>
          <a:xfrm>
            <a:off x="3657600" y="182880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8.0%</a:t>
            </a:r>
            <a:endParaRPr lang="en-US" sz="3000" dirty="0"/>
          </a:p>
        </p:txBody>
      </p:sp>
      <p:sp>
        <p:nvSpPr>
          <p:cNvPr id="9" name="Text 6"/>
          <p:cNvSpPr txBox="1"/>
          <p:nvPr/>
        </p:nvSpPr>
        <p:spPr>
          <a:xfrm>
            <a:off x="777240" y="256032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cancelled orders (4.9%) plus returned orders (3.1%), divided by all 50,000 orders.</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every cancelled or returned order is a sale we worked for and lost.</a:t>
            </a:r>
            <a:endParaRPr lang="en-US" sz="1200" dirty="0"/>
          </a:p>
        </p:txBody>
      </p:sp>
      <p:sp>
        <p:nvSpPr>
          <p:cNvPr id="10" name="Shape 7"/>
          <p:cNvSpPr/>
          <p:nvPr/>
        </p:nvSpPr>
        <p:spPr>
          <a:xfrm>
            <a:off x="6172200" y="1645920"/>
            <a:ext cx="5440680" cy="2011680"/>
          </a:xfrm>
          <a:prstGeom prst="roundRect">
            <a:avLst>
              <a:gd name="adj" fmla="val 4545"/>
            </a:avLst>
          </a:prstGeom>
          <a:solidFill>
            <a:srgbClr val="FFF4EA"/>
          </a:solidFill>
          <a:ln/>
        </p:spPr>
      </p:sp>
      <p:sp>
        <p:nvSpPr>
          <p:cNvPr id="11" name="Shape 8"/>
          <p:cNvSpPr/>
          <p:nvPr/>
        </p:nvSpPr>
        <p:spPr>
          <a:xfrm>
            <a:off x="6400800" y="1874520"/>
            <a:ext cx="548640" cy="548640"/>
          </a:xfrm>
          <a:prstGeom prst="ellipse">
            <a:avLst/>
          </a:prstGeom>
          <a:solidFill>
            <a:srgbClr val="EF7E29"/>
          </a:solidFill>
          <a:ln/>
        </p:spPr>
      </p:sp>
      <p:pic>
        <p:nvPicPr>
          <p:cNvPr id="12" name="Image 1" descr="preencoded.png">    </p:cNvPr>
          <p:cNvPicPr>
            <a:picLocks noChangeAspect="1"/>
          </p:cNvPicPr>
          <p:nvPr/>
        </p:nvPicPr>
        <p:blipFill>
          <a:blip r:embed="rId2"/>
          <a:stretch>
            <a:fillRect/>
          </a:stretch>
        </p:blipFill>
        <p:spPr>
          <a:xfrm>
            <a:off x="6537960" y="2011680"/>
            <a:ext cx="274320" cy="274320"/>
          </a:xfrm>
          <a:prstGeom prst="rect">
            <a:avLst/>
          </a:prstGeom>
        </p:spPr>
      </p:pic>
      <p:sp>
        <p:nvSpPr>
          <p:cNvPr id="13" name="Text 9"/>
          <p:cNvSpPr txBox="1"/>
          <p:nvPr/>
        </p:nvSpPr>
        <p:spPr>
          <a:xfrm>
            <a:off x="7086600" y="187452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Payment failures</a:t>
            </a:r>
            <a:endParaRPr lang="en-US" sz="1600" dirty="0"/>
          </a:p>
        </p:txBody>
      </p:sp>
      <p:sp>
        <p:nvSpPr>
          <p:cNvPr id="14" name="Text 10"/>
          <p:cNvSpPr txBox="1"/>
          <p:nvPr/>
        </p:nvSpPr>
        <p:spPr>
          <a:xfrm>
            <a:off x="9281160" y="182880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3.8%</a:t>
            </a:r>
            <a:endParaRPr lang="en-US" sz="3000" dirty="0"/>
          </a:p>
        </p:txBody>
      </p:sp>
      <p:sp>
        <p:nvSpPr>
          <p:cNvPr id="15" name="Text 11"/>
          <p:cNvSpPr txBox="1"/>
          <p:nvPr/>
        </p:nvSpPr>
        <p:spPr>
          <a:xfrm>
            <a:off x="6400800" y="256032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payments marked Failed divided by all payments (1,924 of 50,000).</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a failed payment is a customer who wanted to buy but could not.</a:t>
            </a:r>
            <a:endParaRPr lang="en-US" sz="1200" dirty="0"/>
          </a:p>
        </p:txBody>
      </p:sp>
      <p:sp>
        <p:nvSpPr>
          <p:cNvPr id="16" name="Shape 12"/>
          <p:cNvSpPr/>
          <p:nvPr/>
        </p:nvSpPr>
        <p:spPr>
          <a:xfrm>
            <a:off x="548640" y="3840480"/>
            <a:ext cx="5440680" cy="2011680"/>
          </a:xfrm>
          <a:prstGeom prst="roundRect">
            <a:avLst>
              <a:gd name="adj" fmla="val 4545"/>
            </a:avLst>
          </a:prstGeom>
          <a:solidFill>
            <a:srgbClr val="FFF4EA"/>
          </a:solidFill>
          <a:ln/>
        </p:spPr>
      </p:sp>
      <p:sp>
        <p:nvSpPr>
          <p:cNvPr id="17" name="Shape 13"/>
          <p:cNvSpPr/>
          <p:nvPr/>
        </p:nvSpPr>
        <p:spPr>
          <a:xfrm>
            <a:off x="777240" y="4069080"/>
            <a:ext cx="548640" cy="548640"/>
          </a:xfrm>
          <a:prstGeom prst="ellipse">
            <a:avLst/>
          </a:prstGeom>
          <a:solidFill>
            <a:srgbClr val="EF7E29"/>
          </a:solidFill>
          <a:ln/>
        </p:spPr>
      </p:sp>
      <p:pic>
        <p:nvPicPr>
          <p:cNvPr id="18" name="Image 2" descr="preencoded.png">    </p:cNvPr>
          <p:cNvPicPr>
            <a:picLocks noChangeAspect="1"/>
          </p:cNvPicPr>
          <p:nvPr/>
        </p:nvPicPr>
        <p:blipFill>
          <a:blip r:embed="rId3"/>
          <a:stretch>
            <a:fillRect/>
          </a:stretch>
        </p:blipFill>
        <p:spPr>
          <a:xfrm>
            <a:off x="914400" y="4206240"/>
            <a:ext cx="274320" cy="274320"/>
          </a:xfrm>
          <a:prstGeom prst="rect">
            <a:avLst/>
          </a:prstGeom>
        </p:spPr>
      </p:pic>
      <p:sp>
        <p:nvSpPr>
          <p:cNvPr id="19" name="Text 14"/>
          <p:cNvSpPr txBox="1"/>
          <p:nvPr/>
        </p:nvSpPr>
        <p:spPr>
          <a:xfrm>
            <a:off x="1463040" y="406908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Discount given</a:t>
            </a:r>
            <a:endParaRPr lang="en-US" sz="1600" dirty="0"/>
          </a:p>
        </p:txBody>
      </p:sp>
      <p:sp>
        <p:nvSpPr>
          <p:cNvPr id="20" name="Text 15"/>
          <p:cNvSpPr txBox="1"/>
          <p:nvPr/>
        </p:nvSpPr>
        <p:spPr>
          <a:xfrm>
            <a:off x="3657600" y="402336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R288,043</a:t>
            </a:r>
            <a:endParaRPr lang="en-US" sz="3000" dirty="0"/>
          </a:p>
        </p:txBody>
      </p:sp>
      <p:sp>
        <p:nvSpPr>
          <p:cNvPr id="21" name="Text 16"/>
          <p:cNvSpPr txBox="1"/>
          <p:nvPr/>
        </p:nvSpPr>
        <p:spPr>
          <a:xfrm>
            <a:off x="777240" y="475488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for every order: Quantity x Price x Discount rate, added up.</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it is the revenue we chose to give away to attract buyers.</a:t>
            </a:r>
            <a:endParaRPr lang="en-US" sz="1200" dirty="0"/>
          </a:p>
        </p:txBody>
      </p:sp>
      <p:sp>
        <p:nvSpPr>
          <p:cNvPr id="22" name="Shape 17"/>
          <p:cNvSpPr/>
          <p:nvPr/>
        </p:nvSpPr>
        <p:spPr>
          <a:xfrm>
            <a:off x="6172200" y="3840480"/>
            <a:ext cx="5440680" cy="2011680"/>
          </a:xfrm>
          <a:prstGeom prst="roundRect">
            <a:avLst>
              <a:gd name="adj" fmla="val 4545"/>
            </a:avLst>
          </a:prstGeom>
          <a:solidFill>
            <a:srgbClr val="FFF4EA"/>
          </a:solidFill>
          <a:ln/>
        </p:spPr>
      </p:sp>
      <p:sp>
        <p:nvSpPr>
          <p:cNvPr id="23" name="Shape 18"/>
          <p:cNvSpPr/>
          <p:nvPr/>
        </p:nvSpPr>
        <p:spPr>
          <a:xfrm>
            <a:off x="6400800" y="4069080"/>
            <a:ext cx="548640" cy="548640"/>
          </a:xfrm>
          <a:prstGeom prst="ellipse">
            <a:avLst/>
          </a:prstGeom>
          <a:solidFill>
            <a:srgbClr val="EF7E29"/>
          </a:solidFill>
          <a:ln/>
        </p:spPr>
      </p:sp>
      <p:pic>
        <p:nvPicPr>
          <p:cNvPr id="24" name="Image 3" descr="preencoded.png">    </p:cNvPr>
          <p:cNvPicPr>
            <a:picLocks noChangeAspect="1"/>
          </p:cNvPicPr>
          <p:nvPr/>
        </p:nvPicPr>
        <p:blipFill>
          <a:blip r:embed="rId4"/>
          <a:stretch>
            <a:fillRect/>
          </a:stretch>
        </p:blipFill>
        <p:spPr>
          <a:xfrm>
            <a:off x="6537960" y="4206240"/>
            <a:ext cx="274320" cy="274320"/>
          </a:xfrm>
          <a:prstGeom prst="rect">
            <a:avLst/>
          </a:prstGeom>
        </p:spPr>
      </p:pic>
      <p:sp>
        <p:nvSpPr>
          <p:cNvPr id="25" name="Text 19"/>
          <p:cNvSpPr txBox="1"/>
          <p:nvPr/>
        </p:nvSpPr>
        <p:spPr>
          <a:xfrm>
            <a:off x="7086600" y="4069080"/>
            <a:ext cx="2377440" cy="548640"/>
          </a:xfrm>
          <a:prstGeom prst="rect">
            <a:avLst/>
          </a:prstGeom>
          <a:noFill/>
          <a:ln/>
        </p:spPr>
        <p:txBody>
          <a:bodyPr wrap="square" lIns="0" tIns="0" rIns="0" bIns="0" rtlCol="0" anchor="ctr"/>
          <a:lstStyle/>
          <a:p>
            <a:pPr indent="0" marL="0">
              <a:buNone/>
            </a:pPr>
            <a:r>
              <a:rPr lang="en-US" sz="1600" b="1" dirty="0">
                <a:solidFill>
                  <a:srgbClr val="00133B"/>
                </a:solidFill>
                <a:latin typeface="Calibri" pitchFamily="34" charset="0"/>
                <a:ea typeface="Calibri" pitchFamily="34" charset="-122"/>
                <a:cs typeface="Calibri" pitchFamily="34" charset="-120"/>
              </a:rPr>
              <a:t>Discount depth</a:t>
            </a:r>
            <a:endParaRPr lang="en-US" sz="1600" dirty="0"/>
          </a:p>
        </p:txBody>
      </p:sp>
      <p:sp>
        <p:nvSpPr>
          <p:cNvPr id="26" name="Text 20"/>
          <p:cNvSpPr txBox="1"/>
          <p:nvPr/>
        </p:nvSpPr>
        <p:spPr>
          <a:xfrm>
            <a:off x="9281160" y="4023360"/>
            <a:ext cx="2194560" cy="640080"/>
          </a:xfrm>
          <a:prstGeom prst="rect">
            <a:avLst/>
          </a:prstGeom>
          <a:noFill/>
          <a:ln/>
        </p:spPr>
        <p:txBody>
          <a:bodyPr wrap="square" lIns="0" tIns="0" rIns="0" bIns="0" rtlCol="0" anchor="ctr"/>
          <a:lstStyle/>
          <a:p>
            <a:pPr algn="r" indent="0" marL="0">
              <a:buNone/>
            </a:pPr>
            <a:r>
              <a:rPr lang="en-US" sz="3000" b="1" dirty="0">
                <a:solidFill>
                  <a:srgbClr val="EF7E29"/>
                </a:solidFill>
                <a:latin typeface="Calibri" pitchFamily="34" charset="0"/>
                <a:ea typeface="Calibri" pitchFamily="34" charset="-122"/>
                <a:cs typeface="Calibri" pitchFamily="34" charset="-120"/>
              </a:rPr>
              <a:t>7.6%</a:t>
            </a:r>
            <a:endParaRPr lang="en-US" sz="3000" dirty="0"/>
          </a:p>
        </p:txBody>
      </p:sp>
      <p:sp>
        <p:nvSpPr>
          <p:cNvPr id="27" name="Text 21"/>
          <p:cNvSpPr txBox="1"/>
          <p:nvPr/>
        </p:nvSpPr>
        <p:spPr>
          <a:xfrm>
            <a:off x="6400800" y="4754880"/>
            <a:ext cx="4983480" cy="1005840"/>
          </a:xfrm>
          <a:prstGeom prst="rect">
            <a:avLst/>
          </a:prstGeom>
          <a:noFill/>
          <a:ln/>
        </p:spPr>
        <p:txBody>
          <a:bodyPr wrap="square" lIns="0" tIns="0" rIns="0" bIns="0" rtlCol="0" anchor="t"/>
          <a:lstStyle/>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How it is worked out: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total discount given divided by the full price value of all orders (R3,791,543).</a:t>
            </a:r>
            <a:endParaRPr lang="en-US" sz="1200" dirty="0"/>
          </a:p>
          <a:p>
            <a:pPr indent="0" marL="0">
              <a:spcAft>
                <a:spcPts val="400"/>
              </a:spcAft>
              <a:buNone/>
            </a:pPr>
            <a:r>
              <a:rPr lang="en-US" sz="1200" b="1" dirty="0">
                <a:solidFill>
                  <a:srgbClr val="00133B"/>
                </a:solidFill>
                <a:latin typeface="Calibri" pitchFamily="34" charset="0"/>
                <a:ea typeface="Calibri" pitchFamily="34" charset="-122"/>
                <a:cs typeface="Calibri" pitchFamily="34" charset="-120"/>
              </a:rPr>
              <a:t>Why it matters: </a:t>
            </a:r>
            <a:pPr indent="0" marL="0">
              <a:spcAft>
                <a:spcPts val="400"/>
              </a:spcAft>
              <a:buNone/>
            </a:pPr>
            <a:r>
              <a:rPr lang="en-US" sz="1200" dirty="0">
                <a:solidFill>
                  <a:srgbClr val="222222"/>
                </a:solidFill>
                <a:latin typeface="Calibri" pitchFamily="34" charset="0"/>
                <a:ea typeface="Calibri" pitchFamily="34" charset="-122"/>
                <a:cs typeface="Calibri" pitchFamily="34" charset="-120"/>
              </a:rPr>
              <a:t>it shows how generous our pricing is on average.</a:t>
            </a:r>
            <a:endParaRPr lang="en-US" sz="1200" dirty="0"/>
          </a:p>
        </p:txBody>
      </p:sp>
      <p:pic>
        <p:nvPicPr>
          <p:cNvPr id="28" name="Image 4" descr="Bright_Store_Analysis_logo.png">    </p:cNvPr>
          <p:cNvPicPr>
            <a:picLocks noChangeAspect="1"/>
          </p:cNvPicPr>
          <p:nvPr/>
        </p:nvPicPr>
        <p:blipFill>
          <a:blip r:embed="rId5"/>
          <a:stretch>
            <a:fillRect/>
          </a:stretch>
        </p:blipFill>
        <p:spPr>
          <a:xfrm>
            <a:off x="548640" y="6382512"/>
            <a:ext cx="1243584" cy="291112"/>
          </a:xfrm>
          <a:prstGeom prst="rect">
            <a:avLst/>
          </a:prstGeom>
        </p:spPr>
      </p:pic>
      <p:sp>
        <p:nvSpPr>
          <p:cNvPr id="29" name="Text 2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Is the shop growing?</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Net revenue by month, January 2024 to June 2026</a:t>
            </a:r>
            <a:endParaRPr lang="en-US" sz="1600" dirty="0"/>
          </a:p>
        </p:txBody>
      </p:sp>
      <p:graphicFrame>
        <p:nvGraphicFramePr>
          <p:cNvPr id="4" name="Chart 0" descr=""/>
          <p:cNvGraphicFramePr/>
          <p:nvPr/>
        </p:nvGraphicFramePr>
        <p:xfrm>
          <a:off x="548640" y="1554480"/>
          <a:ext cx="749808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321040" y="1600200"/>
            <a:ext cx="3337560" cy="1143000"/>
          </a:xfrm>
          <a:prstGeom prst="roundRect">
            <a:avLst>
              <a:gd name="adj" fmla="val 8000"/>
            </a:avLst>
          </a:prstGeom>
          <a:solidFill>
            <a:srgbClr val="FFF4EA"/>
          </a:solidFill>
          <a:ln/>
        </p:spPr>
      </p:sp>
      <p:sp>
        <p:nvSpPr>
          <p:cNvPr id="6" name="Text 3"/>
          <p:cNvSpPr txBox="1"/>
          <p:nvPr/>
        </p:nvSpPr>
        <p:spPr>
          <a:xfrm>
            <a:off x="8503920" y="1691640"/>
            <a:ext cx="3017520" cy="548640"/>
          </a:xfrm>
          <a:prstGeom prst="rect">
            <a:avLst/>
          </a:prstGeom>
          <a:noFill/>
          <a:ln/>
        </p:spPr>
        <p:txBody>
          <a:bodyPr wrap="square" lIns="0" tIns="0" rIns="0" bIns="0" rtlCol="0" anchor="ctr"/>
          <a:lstStyle/>
          <a:p>
            <a:pPr indent="0" marL="0">
              <a:buNone/>
            </a:pPr>
            <a:r>
              <a:rPr lang="en-US" sz="3000" b="1" dirty="0">
                <a:solidFill>
                  <a:srgbClr val="EF7E29"/>
                </a:solidFill>
                <a:latin typeface="Calibri" pitchFamily="34" charset="0"/>
                <a:ea typeface="Calibri" pitchFamily="34" charset="-122"/>
                <a:cs typeface="Calibri" pitchFamily="34" charset="-120"/>
              </a:rPr>
              <a:t>R105,850</a:t>
            </a:r>
            <a:endParaRPr lang="en-US" sz="3000" dirty="0"/>
          </a:p>
        </p:txBody>
      </p:sp>
      <p:sp>
        <p:nvSpPr>
          <p:cNvPr id="7" name="Text 4"/>
          <p:cNvSpPr txBox="1"/>
          <p:nvPr/>
        </p:nvSpPr>
        <p:spPr>
          <a:xfrm>
            <a:off x="8503920" y="2258568"/>
            <a:ext cx="3017520" cy="4114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average per month, Feb 2025 to Jan 2026</a:t>
            </a:r>
            <a:endParaRPr lang="en-US" sz="1200" dirty="0"/>
          </a:p>
        </p:txBody>
      </p:sp>
      <p:sp>
        <p:nvSpPr>
          <p:cNvPr id="8" name="Shape 5"/>
          <p:cNvSpPr/>
          <p:nvPr/>
        </p:nvSpPr>
        <p:spPr>
          <a:xfrm>
            <a:off x="8321040" y="2880360"/>
            <a:ext cx="3337560" cy="1143000"/>
          </a:xfrm>
          <a:prstGeom prst="roundRect">
            <a:avLst>
              <a:gd name="adj" fmla="val 8000"/>
            </a:avLst>
          </a:prstGeom>
          <a:solidFill>
            <a:srgbClr val="FFF4EA"/>
          </a:solidFill>
          <a:ln/>
        </p:spPr>
      </p:sp>
      <p:sp>
        <p:nvSpPr>
          <p:cNvPr id="9" name="Text 6"/>
          <p:cNvSpPr txBox="1"/>
          <p:nvPr/>
        </p:nvSpPr>
        <p:spPr>
          <a:xfrm>
            <a:off x="8503920" y="2971800"/>
            <a:ext cx="3017520" cy="548640"/>
          </a:xfrm>
          <a:prstGeom prst="rect">
            <a:avLst/>
          </a:prstGeom>
          <a:noFill/>
          <a:ln/>
        </p:spPr>
        <p:txBody>
          <a:bodyPr wrap="square" lIns="0" tIns="0" rIns="0" bIns="0" rtlCol="0" anchor="ctr"/>
          <a:lstStyle/>
          <a:p>
            <a:pPr indent="0" marL="0">
              <a:buNone/>
            </a:pPr>
            <a:r>
              <a:rPr lang="en-US" sz="3000" b="1" dirty="0">
                <a:solidFill>
                  <a:srgbClr val="EF7E29"/>
                </a:solidFill>
                <a:latin typeface="Calibri" pitchFamily="34" charset="0"/>
                <a:ea typeface="Calibri" pitchFamily="34" charset="-122"/>
                <a:cs typeface="Calibri" pitchFamily="34" charset="-120"/>
              </a:rPr>
              <a:t>R71,336</a:t>
            </a:r>
            <a:endParaRPr lang="en-US" sz="3000" dirty="0"/>
          </a:p>
        </p:txBody>
      </p:sp>
      <p:sp>
        <p:nvSpPr>
          <p:cNvPr id="10" name="Text 7"/>
          <p:cNvSpPr txBox="1"/>
          <p:nvPr/>
        </p:nvSpPr>
        <p:spPr>
          <a:xfrm>
            <a:off x="8503920" y="3538728"/>
            <a:ext cx="3017520" cy="4114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average per month, Feb to Jun 2026</a:t>
            </a:r>
            <a:endParaRPr lang="en-US" sz="1200" dirty="0"/>
          </a:p>
        </p:txBody>
      </p:sp>
      <p:sp>
        <p:nvSpPr>
          <p:cNvPr id="11" name="Shape 8"/>
          <p:cNvSpPr/>
          <p:nvPr/>
        </p:nvSpPr>
        <p:spPr>
          <a:xfrm>
            <a:off x="8321040" y="4160520"/>
            <a:ext cx="3337560" cy="1143000"/>
          </a:xfrm>
          <a:prstGeom prst="roundRect">
            <a:avLst>
              <a:gd name="adj" fmla="val 8000"/>
            </a:avLst>
          </a:prstGeom>
          <a:solidFill>
            <a:srgbClr val="00133B"/>
          </a:solidFill>
          <a:ln/>
        </p:spPr>
      </p:sp>
      <p:sp>
        <p:nvSpPr>
          <p:cNvPr id="12" name="Text 9"/>
          <p:cNvSpPr txBox="1"/>
          <p:nvPr/>
        </p:nvSpPr>
        <p:spPr>
          <a:xfrm>
            <a:off x="8503920" y="4251960"/>
            <a:ext cx="3017520" cy="548640"/>
          </a:xfrm>
          <a:prstGeom prst="rect">
            <a:avLst/>
          </a:prstGeom>
          <a:noFill/>
          <a:ln/>
        </p:spPr>
        <p:txBody>
          <a:bodyPr wrap="square" lIns="0" tIns="0" rIns="0" bIns="0" rtlCol="0" anchor="ctr"/>
          <a:lstStyle/>
          <a:p>
            <a:pPr indent="0" marL="0">
              <a:buNone/>
            </a:pPr>
            <a:r>
              <a:rPr lang="en-US" sz="3000" b="1" dirty="0">
                <a:solidFill>
                  <a:srgbClr val="F8A91A"/>
                </a:solidFill>
                <a:latin typeface="Calibri" pitchFamily="34" charset="0"/>
                <a:ea typeface="Calibri" pitchFamily="34" charset="-122"/>
                <a:cs typeface="Calibri" pitchFamily="34" charset="-120"/>
              </a:rPr>
              <a:t>-32.6%</a:t>
            </a:r>
            <a:endParaRPr lang="en-US" sz="3000" dirty="0"/>
          </a:p>
        </p:txBody>
      </p:sp>
      <p:sp>
        <p:nvSpPr>
          <p:cNvPr id="13" name="Text 10"/>
          <p:cNvSpPr txBox="1"/>
          <p:nvPr/>
        </p:nvSpPr>
        <p:spPr>
          <a:xfrm>
            <a:off x="8503920" y="4818888"/>
            <a:ext cx="301752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change in monthly revenue</a:t>
            </a:r>
            <a:endParaRPr lang="en-US" sz="1200" dirty="0"/>
          </a:p>
        </p:txBody>
      </p:sp>
      <p:sp>
        <p:nvSpPr>
          <p:cNvPr id="14" name="Shape 11"/>
          <p:cNvSpPr/>
          <p:nvPr/>
        </p:nvSpPr>
        <p:spPr>
          <a:xfrm>
            <a:off x="548640" y="5486400"/>
            <a:ext cx="11109960" cy="731520"/>
          </a:xfrm>
          <a:prstGeom prst="roundRect">
            <a:avLst>
              <a:gd name="adj" fmla="val 12500"/>
            </a:avLst>
          </a:prstGeom>
          <a:solidFill>
            <a:srgbClr val="00133B"/>
          </a:solidFill>
          <a:ln/>
        </p:spPr>
      </p:sp>
      <p:sp>
        <p:nvSpPr>
          <p:cNvPr id="15" name="Text 12"/>
          <p:cNvSpPr txBox="1"/>
          <p:nvPr/>
        </p:nvSpPr>
        <p:spPr>
          <a:xfrm>
            <a:off x="777240" y="5577840"/>
            <a:ext cx="10652760" cy="5486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For two years revenue was steady (2025 was only 0.3% below 2024). From February 2026 orders fell by about a third, and they have not recovered.</a:t>
            </a:r>
            <a:endParaRPr lang="en-US" sz="1500" dirty="0"/>
          </a:p>
        </p:txBody>
      </p:sp>
      <p:pic>
        <p:nvPicPr>
          <p:cNvPr id="16" name="Image 0" descr="Bright_Store_Analysis_logo.png">    </p:cNvPr>
          <p:cNvPicPr>
            <a:picLocks noChangeAspect="1"/>
          </p:cNvPicPr>
          <p:nvPr/>
        </p:nvPicPr>
        <p:blipFill>
          <a:blip r:embed="rId2"/>
          <a:stretch>
            <a:fillRect/>
          </a:stretch>
        </p:blipFill>
        <p:spPr>
          <a:xfrm>
            <a:off x="548640" y="6382512"/>
            <a:ext cx="1243584" cy="291112"/>
          </a:xfrm>
          <a:prstGeom prst="rect">
            <a:avLst/>
          </a:prstGeom>
        </p:spPr>
      </p:pic>
      <p:sp>
        <p:nvSpPr>
          <p:cNvPr id="17" name="Text 1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Quarter by quarter</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Comparing each quarter with the one before, and with the same quarter a year ago</a:t>
            </a:r>
            <a:endParaRPr lang="en-US" sz="1600" dirty="0"/>
          </a:p>
        </p:txBody>
      </p:sp>
      <p:graphicFrame>
        <p:nvGraphicFramePr>
          <p:cNvPr id="4" name="Chart 0" descr=""/>
          <p:cNvGraphicFramePr/>
          <p:nvPr/>
        </p:nvGraphicFramePr>
        <p:xfrm>
          <a:off x="548640" y="1554480"/>
          <a:ext cx="67665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1645920"/>
          <a:ext cx="4069080" cy="914400"/>
        </p:xfrm>
        <a:graphic>
          <a:graphicData uri="http://schemas.openxmlformats.org/drawingml/2006/table">
            <a:tbl>
              <a:tblPr/>
              <a:tblGrid>
                <a:gridCol w="1234440"/>
                <a:gridCol w="1417320"/>
                <a:gridCol w="14173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Quarter</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013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vs last quarter</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013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vs a year ago</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0133B"/>
                    </a:solidFill>
                  </a:tcPr>
                </a:tc>
              </a:tr>
              <a:tr h="38404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Q1 2025</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r>
              <a:tr h="38404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Q2 2025</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Q3 2025</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r>
              <a:tr h="38404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Q4 2025</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Q1 2026</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300" b="1" dirty="0">
                          <a:solidFill>
                            <a:srgbClr val="EF7E29"/>
                          </a:solidFill>
                          <a:latin typeface="Calibri" pitchFamily="34" charset="0"/>
                          <a:ea typeface="Calibri" pitchFamily="34" charset="-122"/>
                          <a:cs typeface="Calibri" pitchFamily="34" charset="-120"/>
                        </a:rPr>
                        <a:t>-24.2%</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300" b="1" dirty="0">
                          <a:solidFill>
                            <a:srgbClr val="EF7E29"/>
                          </a:solidFill>
                          <a:latin typeface="Calibri" pitchFamily="34" charset="0"/>
                          <a:ea typeface="Calibri" pitchFamily="34" charset="-122"/>
                          <a:cs typeface="Calibri" pitchFamily="34" charset="-120"/>
                        </a:rPr>
                        <a:t>-19.2%</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r>
              <a:tr h="38404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Q2 2026</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F7E29"/>
                          </a:solidFill>
                          <a:latin typeface="Calibri" pitchFamily="34" charset="0"/>
                          <a:ea typeface="Calibri" pitchFamily="34" charset="-122"/>
                          <a:cs typeface="Calibri" pitchFamily="34" charset="-120"/>
                        </a:rPr>
                        <a:t>-9.6%</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F7E29"/>
                          </a:solidFill>
                          <a:latin typeface="Calibri" pitchFamily="34" charset="0"/>
                          <a:ea typeface="Calibri" pitchFamily="34" charset="-122"/>
                          <a:cs typeface="Calibri" pitchFamily="34" charset="-120"/>
                        </a:rPr>
                        <a:t>-32.3%</a:t>
                      </a:r>
                      <a:endParaRPr lang="en-US" sz="13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589520" y="4572000"/>
            <a:ext cx="4069080" cy="731520"/>
          </a:xfrm>
          <a:prstGeom prst="rect">
            <a:avLst/>
          </a:prstGeom>
          <a:noFill/>
          <a:ln/>
        </p:spPr>
        <p:txBody>
          <a:bodyPr wrap="square" lIns="0" tIns="0" rIns="0" bIns="0" rtlCol="0" anchor="t"/>
          <a:lstStyle/>
          <a:p>
            <a:pPr indent="0" marL="0">
              <a:buNone/>
            </a:pPr>
            <a:r>
              <a:rPr lang="en-US" sz="1300" i="1" dirty="0">
                <a:solidFill>
                  <a:srgbClr val="5A6272"/>
                </a:solidFill>
                <a:latin typeface="Calibri" pitchFamily="34" charset="0"/>
                <a:ea typeface="Calibri" pitchFamily="34" charset="-122"/>
                <a:cs typeface="Calibri" pitchFamily="34" charset="-120"/>
              </a:rPr>
              <a:t>Month by month, February 2026 was the biggest fall: -40.1% against January.</a:t>
            </a:r>
            <a:endParaRPr lang="en-US" sz="1300" dirty="0"/>
          </a:p>
        </p:txBody>
      </p:sp>
      <p:sp>
        <p:nvSpPr>
          <p:cNvPr id="7" name="Shape 3"/>
          <p:cNvSpPr/>
          <p:nvPr/>
        </p:nvSpPr>
        <p:spPr>
          <a:xfrm>
            <a:off x="548640" y="5486400"/>
            <a:ext cx="11109960" cy="731520"/>
          </a:xfrm>
          <a:prstGeom prst="roundRect">
            <a:avLst>
              <a:gd name="adj" fmla="val 12500"/>
            </a:avLst>
          </a:prstGeom>
          <a:solidFill>
            <a:srgbClr val="00133B"/>
          </a:solidFill>
          <a:ln/>
        </p:spPr>
      </p:sp>
      <p:sp>
        <p:nvSpPr>
          <p:cNvPr id="8" name="Text 4"/>
          <p:cNvSpPr txBox="1"/>
          <p:nvPr/>
        </p:nvSpPr>
        <p:spPr>
          <a:xfrm>
            <a:off x="777240" y="5577840"/>
            <a:ext cx="10652760" cy="5486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Through 2024 and 2025 every quarter stayed within about 5% of the same quarter a year before. The 2026 quarters (orange) are the first real break in the pattern.</a:t>
            </a:r>
            <a:endParaRPr lang="en-US" sz="1500" dirty="0"/>
          </a:p>
        </p:txBody>
      </p:sp>
      <p:pic>
        <p:nvPicPr>
          <p:cNvPr id="9" name="Image 0" descr="Bright_Store_Analysis_logo.png">    </p:cNvPr>
          <p:cNvPicPr>
            <a:picLocks noChangeAspect="1"/>
          </p:cNvPicPr>
          <p:nvPr/>
        </p:nvPicPr>
        <p:blipFill>
          <a:blip r:embed="rId2"/>
          <a:stretch>
            <a:fillRect/>
          </a:stretch>
        </p:blipFill>
        <p:spPr>
          <a:xfrm>
            <a:off x="548640" y="6382512"/>
            <a:ext cx="1243584" cy="291112"/>
          </a:xfrm>
          <a:prstGeom prst="rect">
            <a:avLst/>
          </a:prstGeom>
        </p:spPr>
      </p:pic>
      <p:sp>
        <p:nvSpPr>
          <p:cNvPr id="10" name="Text 5"/>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When do customers buy?</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Average net revenue per day, 2024 and 2025</a:t>
            </a:r>
            <a:endParaRPr lang="en-US" sz="1600" dirty="0"/>
          </a:p>
        </p:txBody>
      </p:sp>
      <p:graphicFrame>
        <p:nvGraphicFramePr>
          <p:cNvPr id="4" name="Chart 0" descr=""/>
          <p:cNvGraphicFramePr/>
          <p:nvPr/>
        </p:nvGraphicFramePr>
        <p:xfrm>
          <a:off x="548640" y="1554480"/>
          <a:ext cx="694944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645920"/>
            <a:ext cx="3886200" cy="1783080"/>
          </a:xfrm>
          <a:prstGeom prst="roundRect">
            <a:avLst>
              <a:gd name="adj" fmla="val 5128"/>
            </a:avLst>
          </a:prstGeom>
          <a:solidFill>
            <a:srgbClr val="FFF4EA"/>
          </a:solidFill>
          <a:ln/>
        </p:spPr>
      </p:sp>
      <p:sp>
        <p:nvSpPr>
          <p:cNvPr id="6" name="Text 3"/>
          <p:cNvSpPr txBox="1"/>
          <p:nvPr/>
        </p:nvSpPr>
        <p:spPr>
          <a:xfrm>
            <a:off x="8001000" y="1737360"/>
            <a:ext cx="3474720" cy="36576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Weekends win</a:t>
            </a:r>
            <a:endParaRPr lang="en-US" sz="1800" dirty="0"/>
          </a:p>
        </p:txBody>
      </p:sp>
      <p:sp>
        <p:nvSpPr>
          <p:cNvPr id="7" name="Text 4"/>
          <p:cNvSpPr txBox="1"/>
          <p:nvPr/>
        </p:nvSpPr>
        <p:spPr>
          <a:xfrm>
            <a:off x="8001000" y="2148840"/>
            <a:ext cx="3474720" cy="11887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Saturday earns about 16% more and Sunday about 20% more than a Monday to Thursday day. Friday is about 8% above.</a:t>
            </a:r>
            <a:endParaRPr lang="en-US" sz="1400" dirty="0"/>
          </a:p>
        </p:txBody>
      </p:sp>
      <p:sp>
        <p:nvSpPr>
          <p:cNvPr id="8" name="Shape 5"/>
          <p:cNvSpPr/>
          <p:nvPr/>
        </p:nvSpPr>
        <p:spPr>
          <a:xfrm>
            <a:off x="7772400" y="3611880"/>
            <a:ext cx="3886200" cy="1783080"/>
          </a:xfrm>
          <a:prstGeom prst="roundRect">
            <a:avLst>
              <a:gd name="adj" fmla="val 5128"/>
            </a:avLst>
          </a:prstGeom>
          <a:solidFill>
            <a:srgbClr val="FFF4EA"/>
          </a:solidFill>
          <a:ln/>
        </p:spPr>
      </p:sp>
      <p:sp>
        <p:nvSpPr>
          <p:cNvPr id="9" name="Text 6"/>
          <p:cNvSpPr txBox="1"/>
          <p:nvPr/>
        </p:nvSpPr>
        <p:spPr>
          <a:xfrm>
            <a:off x="8001000" y="3703320"/>
            <a:ext cx="3474720" cy="36576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No seasonal peak</a:t>
            </a:r>
            <a:endParaRPr lang="en-US" sz="1800" dirty="0"/>
          </a:p>
        </p:txBody>
      </p:sp>
      <p:sp>
        <p:nvSpPr>
          <p:cNvPr id="10" name="Text 7"/>
          <p:cNvSpPr txBox="1"/>
          <p:nvPr/>
        </p:nvSpPr>
        <p:spPr>
          <a:xfrm>
            <a:off x="8001000" y="4114800"/>
            <a:ext cx="3474720" cy="11887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Month to month the differences are small (96.6 to 105.6 against an average of 100) and fall within normal ups and downs. There is no busy season.</a:t>
            </a:r>
            <a:endParaRPr lang="en-US" sz="1400" dirty="0"/>
          </a:p>
        </p:txBody>
      </p:sp>
      <p:sp>
        <p:nvSpPr>
          <p:cNvPr id="11" name="Shape 8"/>
          <p:cNvSpPr/>
          <p:nvPr/>
        </p:nvSpPr>
        <p:spPr>
          <a:xfrm>
            <a:off x="548640" y="5486400"/>
            <a:ext cx="11109960" cy="731520"/>
          </a:xfrm>
          <a:prstGeom prst="roundRect">
            <a:avLst>
              <a:gd name="adj" fmla="val 12500"/>
            </a:avLst>
          </a:prstGeom>
          <a:solidFill>
            <a:srgbClr val="00133B"/>
          </a:solidFill>
          <a:ln/>
        </p:spPr>
      </p:sp>
      <p:sp>
        <p:nvSpPr>
          <p:cNvPr id="12" name="Text 9"/>
          <p:cNvSpPr txBox="1"/>
          <p:nvPr/>
        </p:nvSpPr>
        <p:spPr>
          <a:xfrm>
            <a:off x="777240" y="5577840"/>
            <a:ext cx="10652760" cy="5486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Plan promotions, staffing and stock around weekends, not around months of the year.</a:t>
            </a:r>
            <a:endParaRPr lang="en-US" sz="1500" dirty="0"/>
          </a:p>
        </p:txBody>
      </p:sp>
      <p:pic>
        <p:nvPicPr>
          <p:cNvPr id="13" name="Image 0" descr="Bright_Store_Analysis_logo.png">    </p:cNvPr>
          <p:cNvPicPr>
            <a:picLocks noChangeAspect="1"/>
          </p:cNvPicPr>
          <p:nvPr/>
        </p:nvPicPr>
        <p:blipFill>
          <a:blip r:embed="rId2"/>
          <a:stretch>
            <a:fillRect/>
          </a:stretch>
        </p:blipFill>
        <p:spPr>
          <a:xfrm>
            <a:off x="548640" y="6382512"/>
            <a:ext cx="1243584" cy="291112"/>
          </a:xfrm>
          <a:prstGeom prst="rect">
            <a:avLst/>
          </a:prstGeom>
        </p:spPr>
      </p:pic>
      <p:sp>
        <p:nvSpPr>
          <p:cNvPr id="14" name="Text 10"/>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What sells? Revenue and units tell different stories</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Each category's share of revenue and share of items sold</a:t>
            </a:r>
            <a:endParaRPr lang="en-US" sz="1600" dirty="0"/>
          </a:p>
        </p:txBody>
      </p:sp>
      <p:graphicFrame>
        <p:nvGraphicFramePr>
          <p:cNvPr id="4" name="Chart 0" descr=""/>
          <p:cNvGraphicFramePr/>
          <p:nvPr/>
        </p:nvGraphicFramePr>
        <p:xfrm>
          <a:off x="548640" y="1554480"/>
          <a:ext cx="7315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645920"/>
            <a:ext cx="3520440" cy="1143000"/>
          </a:xfrm>
          <a:prstGeom prst="roundRect">
            <a:avLst>
              <a:gd name="adj" fmla="val 8000"/>
            </a:avLst>
          </a:prstGeom>
          <a:solidFill>
            <a:srgbClr val="FFF4EA"/>
          </a:solidFill>
          <a:ln/>
        </p:spPr>
      </p:sp>
      <p:sp>
        <p:nvSpPr>
          <p:cNvPr id="6" name="Text 3"/>
          <p:cNvSpPr txBox="1"/>
          <p:nvPr/>
        </p:nvSpPr>
        <p:spPr>
          <a:xfrm>
            <a:off x="8321040" y="1737360"/>
            <a:ext cx="3200400" cy="365760"/>
          </a:xfrm>
          <a:prstGeom prst="rect">
            <a:avLst/>
          </a:prstGeom>
          <a:noFill/>
          <a:ln/>
        </p:spPr>
        <p:txBody>
          <a:bodyPr wrap="square" lIns="0" tIns="0" rIns="0" bIns="0" rtlCol="0" anchor="ctr"/>
          <a:lstStyle/>
          <a:p>
            <a:pPr indent="0" marL="0">
              <a:buNone/>
            </a:pPr>
            <a:r>
              <a:rPr lang="en-US" sz="1700" b="1" dirty="0">
                <a:solidFill>
                  <a:srgbClr val="EF7E29"/>
                </a:solidFill>
                <a:latin typeface="Calibri" pitchFamily="34" charset="0"/>
                <a:ea typeface="Calibri" pitchFamily="34" charset="-122"/>
                <a:cs typeface="Calibri" pitchFamily="34" charset="-120"/>
              </a:rPr>
              <a:t>Electronics</a:t>
            </a:r>
            <a:endParaRPr lang="en-US" sz="1700" dirty="0"/>
          </a:p>
        </p:txBody>
      </p:sp>
      <p:sp>
        <p:nvSpPr>
          <p:cNvPr id="7" name="Text 4"/>
          <p:cNvSpPr txBox="1"/>
          <p:nvPr/>
        </p:nvSpPr>
        <p:spPr>
          <a:xfrm>
            <a:off x="8321040" y="2121408"/>
            <a:ext cx="3200400" cy="59436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Half of all revenue (50.6%) from 35.6% of units</a:t>
            </a:r>
            <a:endParaRPr lang="en-US" sz="1300" dirty="0"/>
          </a:p>
        </p:txBody>
      </p:sp>
      <p:sp>
        <p:nvSpPr>
          <p:cNvPr id="8" name="Shape 5"/>
          <p:cNvSpPr/>
          <p:nvPr/>
        </p:nvSpPr>
        <p:spPr>
          <a:xfrm>
            <a:off x="8138160" y="2926080"/>
            <a:ext cx="3520440" cy="1143000"/>
          </a:xfrm>
          <a:prstGeom prst="roundRect">
            <a:avLst>
              <a:gd name="adj" fmla="val 8000"/>
            </a:avLst>
          </a:prstGeom>
          <a:solidFill>
            <a:srgbClr val="FFF4EA"/>
          </a:solidFill>
          <a:ln/>
        </p:spPr>
      </p:sp>
      <p:sp>
        <p:nvSpPr>
          <p:cNvPr id="9" name="Text 6"/>
          <p:cNvSpPr txBox="1"/>
          <p:nvPr/>
        </p:nvSpPr>
        <p:spPr>
          <a:xfrm>
            <a:off x="8321040" y="3017520"/>
            <a:ext cx="3200400" cy="365760"/>
          </a:xfrm>
          <a:prstGeom prst="rect">
            <a:avLst/>
          </a:prstGeom>
          <a:noFill/>
          <a:ln/>
        </p:spPr>
        <p:txBody>
          <a:bodyPr wrap="square" lIns="0" tIns="0" rIns="0" bIns="0" rtlCol="0" anchor="ctr"/>
          <a:lstStyle/>
          <a:p>
            <a:pPr indent="0" marL="0">
              <a:buNone/>
            </a:pPr>
            <a:r>
              <a:rPr lang="en-US" sz="1700" b="1" dirty="0">
                <a:solidFill>
                  <a:srgbClr val="EF7E29"/>
                </a:solidFill>
                <a:latin typeface="Calibri" pitchFamily="34" charset="0"/>
                <a:ea typeface="Calibri" pitchFamily="34" charset="-122"/>
                <a:cs typeface="Calibri" pitchFamily="34" charset="-120"/>
              </a:rPr>
              <a:t>Accessories</a:t>
            </a:r>
            <a:endParaRPr lang="en-US" sz="1700" dirty="0"/>
          </a:p>
        </p:txBody>
      </p:sp>
      <p:sp>
        <p:nvSpPr>
          <p:cNvPr id="10" name="Text 7"/>
          <p:cNvSpPr txBox="1"/>
          <p:nvPr/>
        </p:nvSpPr>
        <p:spPr>
          <a:xfrm>
            <a:off x="8321040" y="3401568"/>
            <a:ext cx="3200400" cy="59436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The most units (37.3%) but only 16.1% of revenue</a:t>
            </a:r>
            <a:endParaRPr lang="en-US" sz="1300" dirty="0"/>
          </a:p>
        </p:txBody>
      </p:sp>
      <p:sp>
        <p:nvSpPr>
          <p:cNvPr id="11" name="Shape 8"/>
          <p:cNvSpPr/>
          <p:nvPr/>
        </p:nvSpPr>
        <p:spPr>
          <a:xfrm>
            <a:off x="8138160" y="4206240"/>
            <a:ext cx="3520440" cy="1143000"/>
          </a:xfrm>
          <a:prstGeom prst="roundRect">
            <a:avLst>
              <a:gd name="adj" fmla="val 8000"/>
            </a:avLst>
          </a:prstGeom>
          <a:solidFill>
            <a:srgbClr val="FFF4EA"/>
          </a:solidFill>
          <a:ln/>
        </p:spPr>
      </p:sp>
      <p:sp>
        <p:nvSpPr>
          <p:cNvPr id="12" name="Text 9"/>
          <p:cNvSpPr txBox="1"/>
          <p:nvPr/>
        </p:nvSpPr>
        <p:spPr>
          <a:xfrm>
            <a:off x="8321040" y="4297680"/>
            <a:ext cx="3200400" cy="365760"/>
          </a:xfrm>
          <a:prstGeom prst="rect">
            <a:avLst/>
          </a:prstGeom>
          <a:noFill/>
          <a:ln/>
        </p:spPr>
        <p:txBody>
          <a:bodyPr wrap="square" lIns="0" tIns="0" rIns="0" bIns="0" rtlCol="0" anchor="ctr"/>
          <a:lstStyle/>
          <a:p>
            <a:pPr indent="0" marL="0">
              <a:buNone/>
            </a:pPr>
            <a:r>
              <a:rPr lang="en-US" sz="1700" b="1" dirty="0">
                <a:solidFill>
                  <a:srgbClr val="EF7E29"/>
                </a:solidFill>
                <a:latin typeface="Calibri" pitchFamily="34" charset="0"/>
                <a:ea typeface="Calibri" pitchFamily="34" charset="-122"/>
                <a:cs typeface="Calibri" pitchFamily="34" charset="-120"/>
              </a:rPr>
              <a:t>Stationery</a:t>
            </a:r>
            <a:endParaRPr lang="en-US" sz="1700" dirty="0"/>
          </a:p>
        </p:txBody>
      </p:sp>
      <p:sp>
        <p:nvSpPr>
          <p:cNvPr id="13" name="Text 10"/>
          <p:cNvSpPr txBox="1"/>
          <p:nvPr/>
        </p:nvSpPr>
        <p:spPr>
          <a:xfrm>
            <a:off x="8321040" y="4681728"/>
            <a:ext cx="3200400" cy="59436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11.0% of units for just 1.9% of revenue</a:t>
            </a:r>
            <a:endParaRPr lang="en-US" sz="1300" dirty="0"/>
          </a:p>
        </p:txBody>
      </p:sp>
      <p:sp>
        <p:nvSpPr>
          <p:cNvPr id="14" name="Shape 11"/>
          <p:cNvSpPr/>
          <p:nvPr/>
        </p:nvSpPr>
        <p:spPr>
          <a:xfrm>
            <a:off x="548640" y="5486400"/>
            <a:ext cx="11109960" cy="731520"/>
          </a:xfrm>
          <a:prstGeom prst="roundRect">
            <a:avLst>
              <a:gd name="adj" fmla="val 12500"/>
            </a:avLst>
          </a:prstGeom>
          <a:solidFill>
            <a:srgbClr val="00133B"/>
          </a:solidFill>
          <a:ln/>
        </p:spPr>
      </p:sp>
      <p:sp>
        <p:nvSpPr>
          <p:cNvPr id="15" name="Text 12"/>
          <p:cNvSpPr txBox="1"/>
          <p:nvPr/>
        </p:nvSpPr>
        <p:spPr>
          <a:xfrm>
            <a:off x="777240" y="5577840"/>
            <a:ext cx="10652760" cy="5486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Cheap items sell in large numbers but do not pay the bills. Electronics earns the money, so protect its stock, price and quality.</a:t>
            </a:r>
            <a:endParaRPr lang="en-US" sz="1500" dirty="0"/>
          </a:p>
        </p:txBody>
      </p:sp>
      <p:pic>
        <p:nvPicPr>
          <p:cNvPr id="16" name="Image 0" descr="Bright_Store_Analysis_logo.png">    </p:cNvPr>
          <p:cNvPicPr>
            <a:picLocks noChangeAspect="1"/>
          </p:cNvPicPr>
          <p:nvPr/>
        </p:nvPicPr>
        <p:blipFill>
          <a:blip r:embed="rId2"/>
          <a:stretch>
            <a:fillRect/>
          </a:stretch>
        </p:blipFill>
        <p:spPr>
          <a:xfrm>
            <a:off x="548640" y="6382512"/>
            <a:ext cx="1243584" cy="291112"/>
          </a:xfrm>
          <a:prstGeom prst="rect">
            <a:avLst/>
          </a:prstGeom>
        </p:spPr>
      </p:pic>
      <p:sp>
        <p:nvSpPr>
          <p:cNvPr id="17" name="Text 1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Best sellers by money are not best sellers by units</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Top 10 products by net revenue and by units sold</a:t>
            </a:r>
            <a:endParaRPr lang="en-US" sz="1600" dirty="0"/>
          </a:p>
        </p:txBody>
      </p:sp>
      <p:sp>
        <p:nvSpPr>
          <p:cNvPr id="4" name="Text 2"/>
          <p:cNvSpPr txBox="1"/>
          <p:nvPr/>
        </p:nvSpPr>
        <p:spPr>
          <a:xfrm>
            <a:off x="548640" y="1508760"/>
            <a:ext cx="530352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Top 10 by net revenue</a:t>
            </a:r>
            <a:endParaRPr lang="en-US" sz="1400" dirty="0"/>
          </a:p>
        </p:txBody>
      </p:sp>
      <p:sp>
        <p:nvSpPr>
          <p:cNvPr id="5" name="Text 3"/>
          <p:cNvSpPr txBox="1"/>
          <p:nvPr/>
        </p:nvSpPr>
        <p:spPr>
          <a:xfrm>
            <a:off x="6263640" y="1508760"/>
            <a:ext cx="530352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Top 10 by units sold</a:t>
            </a:r>
            <a:endParaRPr lang="en-US" sz="1400" dirty="0"/>
          </a:p>
        </p:txBody>
      </p:sp>
      <p:graphicFrame>
        <p:nvGraphicFramePr>
          <p:cNvPr id="6" name="Chart 0" descr=""/>
          <p:cNvGraphicFramePr/>
          <p:nvPr/>
        </p:nvGraphicFramePr>
        <p:xfrm>
          <a:off x="548640" y="1828800"/>
          <a:ext cx="54864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263640" y="1828800"/>
          <a:ext cx="5394960" cy="35661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48640" y="5486400"/>
            <a:ext cx="11109960" cy="731520"/>
          </a:xfrm>
          <a:prstGeom prst="roundRect">
            <a:avLst>
              <a:gd name="adj" fmla="val 12500"/>
            </a:avLst>
          </a:prstGeom>
          <a:solidFill>
            <a:srgbClr val="00133B"/>
          </a:solidFill>
          <a:ln/>
        </p:spPr>
      </p:sp>
      <p:sp>
        <p:nvSpPr>
          <p:cNvPr id="9" name="Text 5"/>
          <p:cNvSpPr txBox="1"/>
          <p:nvPr/>
        </p:nvSpPr>
        <p:spPr>
          <a:xfrm>
            <a:off x="777240" y="5577840"/>
            <a:ext cx="10652760" cy="5486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Headphones (R292,916), Office Chair and Tablet earn the most. Notebook, Phone Case and USB-C Cable sell the most units but rank 13th to 19th for revenue. The top five products make up 41.9% of revenue.</a:t>
            </a:r>
            <a:endParaRPr lang="en-US" sz="1500" dirty="0"/>
          </a:p>
        </p:txBody>
      </p:sp>
      <p:pic>
        <p:nvPicPr>
          <p:cNvPr id="10" name="Image 0" descr="Bright_Store_Analysis_logo.png">    </p:cNvPr>
          <p:cNvPicPr>
            <a:picLocks noChangeAspect="1"/>
          </p:cNvPicPr>
          <p:nvPr/>
        </p:nvPicPr>
        <p:blipFill>
          <a:blip r:embed="rId3"/>
          <a:stretch>
            <a:fillRect/>
          </a:stretch>
        </p:blipFill>
        <p:spPr>
          <a:xfrm>
            <a:off x="548640" y="6382512"/>
            <a:ext cx="1243584" cy="291112"/>
          </a:xfrm>
          <a:prstGeom prst="rect">
            <a:avLst/>
          </a:prstGeom>
        </p:spPr>
      </p:pic>
      <p:sp>
        <p:nvSpPr>
          <p:cNvPr id="11" name="Text 6"/>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Who buys? Cities and customer groups</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Net revenue by city, and what each customer segment is worth</a:t>
            </a:r>
            <a:endParaRPr lang="en-US" sz="1600" dirty="0"/>
          </a:p>
        </p:txBody>
      </p:sp>
      <p:sp>
        <p:nvSpPr>
          <p:cNvPr id="4" name="Text 2"/>
          <p:cNvSpPr txBox="1"/>
          <p:nvPr/>
        </p:nvSpPr>
        <p:spPr>
          <a:xfrm>
            <a:off x="548640" y="1508760"/>
            <a:ext cx="548640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Net revenue by city</a:t>
            </a:r>
            <a:endParaRPr lang="en-US" sz="1400" dirty="0"/>
          </a:p>
        </p:txBody>
      </p:sp>
      <p:graphicFrame>
        <p:nvGraphicFramePr>
          <p:cNvPr id="5" name="Chart 0" descr=""/>
          <p:cNvGraphicFramePr/>
          <p:nvPr/>
        </p:nvGraphicFramePr>
        <p:xfrm>
          <a:off x="548640" y="1828800"/>
          <a:ext cx="5852160" cy="3520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766560" y="1508760"/>
            <a:ext cx="457200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Customer segments</a:t>
            </a:r>
            <a:endParaRPr lang="en-US" sz="1400" dirty="0"/>
          </a:p>
        </p:txBody>
      </p:sp>
      <p:sp>
        <p:nvSpPr>
          <p:cNvPr id="7" name="Shape 4"/>
          <p:cNvSpPr/>
          <p:nvPr/>
        </p:nvSpPr>
        <p:spPr>
          <a:xfrm>
            <a:off x="6766560" y="1828800"/>
            <a:ext cx="4892040" cy="960120"/>
          </a:xfrm>
          <a:prstGeom prst="roundRect">
            <a:avLst>
              <a:gd name="adj" fmla="val 9524"/>
            </a:avLst>
          </a:prstGeom>
          <a:solidFill>
            <a:srgbClr val="FFF4EA"/>
          </a:solidFill>
          <a:ln/>
        </p:spPr>
      </p:sp>
      <p:sp>
        <p:nvSpPr>
          <p:cNvPr id="8" name="Text 5"/>
          <p:cNvSpPr txBox="1"/>
          <p:nvPr/>
        </p:nvSpPr>
        <p:spPr>
          <a:xfrm>
            <a:off x="6949440" y="1920240"/>
            <a:ext cx="1371600" cy="86868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Regular</a:t>
            </a:r>
            <a:endParaRPr lang="en-US" sz="1800" dirty="0"/>
          </a:p>
        </p:txBody>
      </p:sp>
      <p:sp>
        <p:nvSpPr>
          <p:cNvPr id="9" name="Text 6"/>
          <p:cNvSpPr txBox="1"/>
          <p:nvPr/>
        </p:nvSpPr>
        <p:spPr>
          <a:xfrm>
            <a:off x="8229600" y="1920240"/>
            <a:ext cx="1371600" cy="868680"/>
          </a:xfrm>
          <a:prstGeom prst="rect">
            <a:avLst/>
          </a:prstGeom>
          <a:noFill/>
          <a:ln/>
        </p:spPr>
        <p:txBody>
          <a:bodyPr wrap="square" lIns="0" tIns="0" rIns="0" bIns="0" rtlCol="0" anchor="ctr"/>
          <a:lstStyle/>
          <a:p>
            <a:pPr indent="0" marL="0">
              <a:buNone/>
            </a:pPr>
            <a:r>
              <a:rPr lang="en-US" sz="2400" b="1" dirty="0">
                <a:solidFill>
                  <a:srgbClr val="EF7E29"/>
                </a:solidFill>
                <a:latin typeface="Calibri" pitchFamily="34" charset="0"/>
                <a:ea typeface="Calibri" pitchFamily="34" charset="-122"/>
                <a:cs typeface="Calibri" pitchFamily="34" charset="-120"/>
              </a:rPr>
              <a:t>55.6%</a:t>
            </a:r>
            <a:endParaRPr lang="en-US" sz="2400" dirty="0"/>
          </a:p>
        </p:txBody>
      </p:sp>
      <p:sp>
        <p:nvSpPr>
          <p:cNvPr id="10" name="Text 7"/>
          <p:cNvSpPr txBox="1"/>
          <p:nvPr/>
        </p:nvSpPr>
        <p:spPr>
          <a:xfrm>
            <a:off x="9509760" y="1920240"/>
            <a:ext cx="2057400" cy="8686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R1,664,721 revenue</a:t>
            </a:r>
            <a:endParaRPr lang="en-US" sz="1200" dirty="0"/>
          </a:p>
          <a:p>
            <a:pPr indent="0" marL="0">
              <a:buNone/>
            </a:pPr>
            <a:r>
              <a:rPr lang="en-US" sz="1200" b="1" dirty="0">
                <a:solidFill>
                  <a:srgbClr val="222222"/>
                </a:solidFill>
                <a:latin typeface="Calibri" pitchFamily="34" charset="0"/>
                <a:ea typeface="Calibri" pitchFamily="34" charset="-122"/>
                <a:cs typeface="Calibri" pitchFamily="34" charset="-120"/>
              </a:rPr>
              <a:t>R299 per customer</a:t>
            </a:r>
            <a:endParaRPr lang="en-US" sz="1200" dirty="0"/>
          </a:p>
        </p:txBody>
      </p:sp>
      <p:sp>
        <p:nvSpPr>
          <p:cNvPr id="11" name="Shape 8"/>
          <p:cNvSpPr/>
          <p:nvPr/>
        </p:nvSpPr>
        <p:spPr>
          <a:xfrm>
            <a:off x="6766560" y="2926080"/>
            <a:ext cx="4892040" cy="960120"/>
          </a:xfrm>
          <a:prstGeom prst="roundRect">
            <a:avLst>
              <a:gd name="adj" fmla="val 9524"/>
            </a:avLst>
          </a:prstGeom>
          <a:solidFill>
            <a:srgbClr val="FFF4EA"/>
          </a:solidFill>
          <a:ln/>
        </p:spPr>
      </p:sp>
      <p:sp>
        <p:nvSpPr>
          <p:cNvPr id="12" name="Text 9"/>
          <p:cNvSpPr txBox="1"/>
          <p:nvPr/>
        </p:nvSpPr>
        <p:spPr>
          <a:xfrm>
            <a:off x="6949440" y="3017520"/>
            <a:ext cx="1371600" cy="86868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New</a:t>
            </a:r>
            <a:endParaRPr lang="en-US" sz="1800" dirty="0"/>
          </a:p>
        </p:txBody>
      </p:sp>
      <p:sp>
        <p:nvSpPr>
          <p:cNvPr id="13" name="Text 10"/>
          <p:cNvSpPr txBox="1"/>
          <p:nvPr/>
        </p:nvSpPr>
        <p:spPr>
          <a:xfrm>
            <a:off x="8229600" y="3017520"/>
            <a:ext cx="1371600" cy="868680"/>
          </a:xfrm>
          <a:prstGeom prst="rect">
            <a:avLst/>
          </a:prstGeom>
          <a:noFill/>
          <a:ln/>
        </p:spPr>
        <p:txBody>
          <a:bodyPr wrap="square" lIns="0" tIns="0" rIns="0" bIns="0" rtlCol="0" anchor="ctr"/>
          <a:lstStyle/>
          <a:p>
            <a:pPr indent="0" marL="0">
              <a:buNone/>
            </a:pPr>
            <a:r>
              <a:rPr lang="en-US" sz="2400" b="1" dirty="0">
                <a:solidFill>
                  <a:srgbClr val="EF7E29"/>
                </a:solidFill>
                <a:latin typeface="Calibri" pitchFamily="34" charset="0"/>
                <a:ea typeface="Calibri" pitchFamily="34" charset="-122"/>
                <a:cs typeface="Calibri" pitchFamily="34" charset="-120"/>
              </a:rPr>
              <a:t>34.8%</a:t>
            </a:r>
            <a:endParaRPr lang="en-US" sz="2400" dirty="0"/>
          </a:p>
        </p:txBody>
      </p:sp>
      <p:sp>
        <p:nvSpPr>
          <p:cNvPr id="14" name="Text 11"/>
          <p:cNvSpPr txBox="1"/>
          <p:nvPr/>
        </p:nvSpPr>
        <p:spPr>
          <a:xfrm>
            <a:off x="9509760" y="3017520"/>
            <a:ext cx="2057400" cy="8686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R1,042,861 revenue</a:t>
            </a:r>
            <a:endParaRPr lang="en-US" sz="1200" dirty="0"/>
          </a:p>
          <a:p>
            <a:pPr indent="0" marL="0">
              <a:buNone/>
            </a:pPr>
            <a:r>
              <a:rPr lang="en-US" sz="1200" b="1" dirty="0">
                <a:solidFill>
                  <a:srgbClr val="222222"/>
                </a:solidFill>
                <a:latin typeface="Calibri" pitchFamily="34" charset="0"/>
                <a:ea typeface="Calibri" pitchFamily="34" charset="-122"/>
                <a:cs typeface="Calibri" pitchFamily="34" charset="-120"/>
              </a:rPr>
              <a:t>R301 per customer</a:t>
            </a:r>
            <a:endParaRPr lang="en-US" sz="1200" dirty="0"/>
          </a:p>
        </p:txBody>
      </p:sp>
      <p:sp>
        <p:nvSpPr>
          <p:cNvPr id="15" name="Shape 12"/>
          <p:cNvSpPr/>
          <p:nvPr/>
        </p:nvSpPr>
        <p:spPr>
          <a:xfrm>
            <a:off x="6766560" y="4023360"/>
            <a:ext cx="4892040" cy="960120"/>
          </a:xfrm>
          <a:prstGeom prst="roundRect">
            <a:avLst>
              <a:gd name="adj" fmla="val 9524"/>
            </a:avLst>
          </a:prstGeom>
          <a:solidFill>
            <a:srgbClr val="FFF4EA"/>
          </a:solidFill>
          <a:ln/>
        </p:spPr>
      </p:sp>
      <p:sp>
        <p:nvSpPr>
          <p:cNvPr id="16" name="Text 13"/>
          <p:cNvSpPr txBox="1"/>
          <p:nvPr/>
        </p:nvSpPr>
        <p:spPr>
          <a:xfrm>
            <a:off x="6949440" y="4114800"/>
            <a:ext cx="1371600" cy="86868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VIP</a:t>
            </a:r>
            <a:endParaRPr lang="en-US" sz="1800" dirty="0"/>
          </a:p>
        </p:txBody>
      </p:sp>
      <p:sp>
        <p:nvSpPr>
          <p:cNvPr id="17" name="Text 14"/>
          <p:cNvSpPr txBox="1"/>
          <p:nvPr/>
        </p:nvSpPr>
        <p:spPr>
          <a:xfrm>
            <a:off x="8229600" y="4114800"/>
            <a:ext cx="1371600" cy="868680"/>
          </a:xfrm>
          <a:prstGeom prst="rect">
            <a:avLst/>
          </a:prstGeom>
          <a:noFill/>
          <a:ln/>
        </p:spPr>
        <p:txBody>
          <a:bodyPr wrap="square" lIns="0" tIns="0" rIns="0" bIns="0" rtlCol="0" anchor="ctr"/>
          <a:lstStyle/>
          <a:p>
            <a:pPr indent="0" marL="0">
              <a:buNone/>
            </a:pPr>
            <a:r>
              <a:rPr lang="en-US" sz="2400" b="1" dirty="0">
                <a:solidFill>
                  <a:srgbClr val="EF7E29"/>
                </a:solidFill>
                <a:latin typeface="Calibri" pitchFamily="34" charset="0"/>
                <a:ea typeface="Calibri" pitchFamily="34" charset="-122"/>
                <a:cs typeface="Calibri" pitchFamily="34" charset="-120"/>
              </a:rPr>
              <a:t>9.6%</a:t>
            </a:r>
            <a:endParaRPr lang="en-US" sz="2400" dirty="0"/>
          </a:p>
        </p:txBody>
      </p:sp>
      <p:sp>
        <p:nvSpPr>
          <p:cNvPr id="18" name="Text 15"/>
          <p:cNvSpPr txBox="1"/>
          <p:nvPr/>
        </p:nvSpPr>
        <p:spPr>
          <a:xfrm>
            <a:off x="9509760" y="4114800"/>
            <a:ext cx="2057400" cy="8686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R289,147 revenue</a:t>
            </a:r>
            <a:endParaRPr lang="en-US" sz="1200" dirty="0"/>
          </a:p>
          <a:p>
            <a:pPr indent="0" marL="0">
              <a:buNone/>
            </a:pPr>
            <a:r>
              <a:rPr lang="en-US" sz="1200" b="1" dirty="0">
                <a:solidFill>
                  <a:srgbClr val="222222"/>
                </a:solidFill>
                <a:latin typeface="Calibri" pitchFamily="34" charset="0"/>
                <a:ea typeface="Calibri" pitchFamily="34" charset="-122"/>
                <a:cs typeface="Calibri" pitchFamily="34" charset="-120"/>
              </a:rPr>
              <a:t>R297 per customer</a:t>
            </a:r>
            <a:endParaRPr lang="en-US" sz="1200" dirty="0"/>
          </a:p>
        </p:txBody>
      </p:sp>
      <p:sp>
        <p:nvSpPr>
          <p:cNvPr id="19" name="Text 16"/>
          <p:cNvSpPr txBox="1"/>
          <p:nvPr/>
        </p:nvSpPr>
        <p:spPr>
          <a:xfrm>
            <a:off x="6766560" y="5120640"/>
            <a:ext cx="4892040" cy="274320"/>
          </a:xfrm>
          <a:prstGeom prst="rect">
            <a:avLst/>
          </a:prstGeom>
          <a:noFill/>
          <a:ln/>
        </p:spPr>
        <p:txBody>
          <a:bodyPr wrap="square" lIns="0" tIns="0" rIns="0" bIns="0" rtlCol="0" anchor="ctr"/>
          <a:lstStyle/>
          <a:p>
            <a:pPr indent="0" marL="0">
              <a:buNone/>
            </a:pPr>
            <a:r>
              <a:rPr lang="en-US" sz="1100" i="1" dirty="0">
                <a:solidFill>
                  <a:srgbClr val="5A6272"/>
                </a:solidFill>
                <a:latin typeface="Calibri" pitchFamily="34" charset="0"/>
                <a:ea typeface="Calibri" pitchFamily="34" charset="-122"/>
                <a:cs typeface="Calibri" pitchFamily="34" charset="-120"/>
              </a:rPr>
              <a:t>Share of net revenue, then total and value per registered customer</a:t>
            </a:r>
            <a:endParaRPr lang="en-US" sz="1100" dirty="0"/>
          </a:p>
        </p:txBody>
      </p:sp>
      <p:sp>
        <p:nvSpPr>
          <p:cNvPr id="20" name="Shape 17"/>
          <p:cNvSpPr/>
          <p:nvPr/>
        </p:nvSpPr>
        <p:spPr>
          <a:xfrm>
            <a:off x="548640" y="5486400"/>
            <a:ext cx="11109960" cy="731520"/>
          </a:xfrm>
          <a:prstGeom prst="roundRect">
            <a:avLst>
              <a:gd name="adj" fmla="val 12500"/>
            </a:avLst>
          </a:prstGeom>
          <a:solidFill>
            <a:srgbClr val="00133B"/>
          </a:solidFill>
          <a:ln/>
        </p:spPr>
      </p:sp>
      <p:sp>
        <p:nvSpPr>
          <p:cNvPr id="21" name="Text 18"/>
          <p:cNvSpPr txBox="1"/>
          <p:nvPr/>
        </p:nvSpPr>
        <p:spPr>
          <a:xfrm>
            <a:off x="777240" y="5577840"/>
            <a:ext cx="10652760" cy="5486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Tehran leads (R824,412, 27.5%) only because it has the most customers: every city earns about R300 per customer. VIP customers are worth the same as everyone else.</a:t>
            </a:r>
            <a:endParaRPr lang="en-US" sz="1500" dirty="0"/>
          </a:p>
        </p:txBody>
      </p:sp>
      <p:pic>
        <p:nvPicPr>
          <p:cNvPr id="22" name="Image 0" descr="Bright_Store_Analysis_logo.png">    </p:cNvPr>
          <p:cNvPicPr>
            <a:picLocks noChangeAspect="1"/>
          </p:cNvPicPr>
          <p:nvPr/>
        </p:nvPicPr>
        <p:blipFill>
          <a:blip r:embed="rId2"/>
          <a:stretch>
            <a:fillRect/>
          </a:stretch>
        </p:blipFill>
        <p:spPr>
          <a:xfrm>
            <a:off x="548640" y="6382512"/>
            <a:ext cx="1243584" cy="291112"/>
          </a:xfrm>
          <a:prstGeom prst="rect">
            <a:avLst/>
          </a:prstGeom>
        </p:spPr>
      </p:pic>
      <p:sp>
        <p:nvSpPr>
          <p:cNvPr id="23" name="Text 19"/>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What goes wrong?</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Lost orders and failed payments</a:t>
            </a:r>
            <a:endParaRPr lang="en-US" sz="1600" dirty="0"/>
          </a:p>
        </p:txBody>
      </p:sp>
      <p:sp>
        <p:nvSpPr>
          <p:cNvPr id="4" name="Text 2"/>
          <p:cNvSpPr txBox="1"/>
          <p:nvPr/>
        </p:nvSpPr>
        <p:spPr>
          <a:xfrm>
            <a:off x="548640" y="1508760"/>
            <a:ext cx="411480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Orders by status</a:t>
            </a:r>
            <a:endParaRPr lang="en-US" sz="1400" dirty="0"/>
          </a:p>
        </p:txBody>
      </p:sp>
      <p:graphicFrame>
        <p:nvGraphicFramePr>
          <p:cNvPr id="5" name="Chart 0" descr=""/>
          <p:cNvGraphicFramePr/>
          <p:nvPr/>
        </p:nvGraphicFramePr>
        <p:xfrm>
          <a:off x="548640" y="182880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120640" y="1508760"/>
            <a:ext cx="640080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Payment failure rate by method (%)</a:t>
            </a:r>
            <a:endParaRPr lang="en-US" sz="1400" dirty="0"/>
          </a:p>
        </p:txBody>
      </p:sp>
      <p:graphicFrame>
        <p:nvGraphicFramePr>
          <p:cNvPr id="7" name="Chart 1" descr=""/>
          <p:cNvGraphicFramePr/>
          <p:nvPr/>
        </p:nvGraphicFramePr>
        <p:xfrm>
          <a:off x="5029200" y="1828800"/>
          <a:ext cx="6629400" cy="35661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48640" y="5486400"/>
            <a:ext cx="11109960" cy="731520"/>
          </a:xfrm>
          <a:prstGeom prst="roundRect">
            <a:avLst>
              <a:gd name="adj" fmla="val 12500"/>
            </a:avLst>
          </a:prstGeom>
          <a:solidFill>
            <a:srgbClr val="00133B"/>
          </a:solidFill>
          <a:ln/>
        </p:spPr>
      </p:sp>
      <p:sp>
        <p:nvSpPr>
          <p:cNvPr id="9" name="Text 5"/>
          <p:cNvSpPr txBox="1"/>
          <p:nvPr/>
        </p:nvSpPr>
        <p:spPr>
          <a:xfrm>
            <a:off x="777240" y="5577840"/>
            <a:ext cx="10652760" cy="5486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8.0% of orders are lost (4.9% cancelled, 3.1% returned, R286,156). Payments fail 3.6% to 4.0% of the time whichever method is used, so the issue is the payment process, not one method.</a:t>
            </a:r>
            <a:endParaRPr lang="en-US" sz="1500" dirty="0"/>
          </a:p>
        </p:txBody>
      </p:sp>
      <p:pic>
        <p:nvPicPr>
          <p:cNvPr id="10" name="Image 0" descr="Bright_Store_Analysis_logo.png">    </p:cNvPr>
          <p:cNvPicPr>
            <a:picLocks noChangeAspect="1"/>
          </p:cNvPicPr>
          <p:nvPr/>
        </p:nvPicPr>
        <p:blipFill>
          <a:blip r:embed="rId3"/>
          <a:stretch>
            <a:fillRect/>
          </a:stretch>
        </p:blipFill>
        <p:spPr>
          <a:xfrm>
            <a:off x="548640" y="6382512"/>
            <a:ext cx="1243584" cy="291112"/>
          </a:xfrm>
          <a:prstGeom prst="rect">
            <a:avLst/>
          </a:prstGeom>
        </p:spPr>
      </p:pic>
      <p:sp>
        <p:nvSpPr>
          <p:cNvPr id="11" name="Text 6"/>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Do orders and payments agree?</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Not always. These records need a clean-up</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914400"/>
        </p:xfrm>
        <a:graphic>
          <a:graphicData uri="http://schemas.openxmlformats.org/drawingml/2006/table">
            <a:tbl>
              <a:tblPr/>
              <a:tblGrid>
                <a:gridCol w="1463040"/>
                <a:gridCol w="1645920"/>
                <a:gridCol w="1737360"/>
                <a:gridCol w="1828800"/>
              </a:tblGrid>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Order status</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0133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Payment Paid</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0133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Payment Failed</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0133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Payment Refunded</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0133B"/>
                    </a:solidFill>
                  </a:tcPr>
                </a:tc>
              </a:tr>
              <a:tr h="566928">
                <a:tc>
                  <a:txBody>
                    <a:bodyPr/>
                    <a:lstStyle/>
                    <a:p>
                      <a:pPr indent="0" marL="0">
                        <a:buNone/>
                      </a:pPr>
                      <a:r>
                        <a:rPr lang="en-US" sz="1400" b="1" dirty="0">
                          <a:solidFill>
                            <a:srgbClr val="00133B"/>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42,849</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1,752</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EF7E2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1,395</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EF7E29"/>
                    </a:solidFill>
                  </a:tcPr>
                </a:tc>
              </a:tr>
              <a:tr h="566928">
                <a:tc>
                  <a:txBody>
                    <a:bodyPr/>
                    <a:lstStyle/>
                    <a:p>
                      <a:pPr indent="0" marL="0">
                        <a:buNone/>
                      </a:pPr>
                      <a:r>
                        <a:rPr lang="en-US" sz="1400" b="1" dirty="0">
                          <a:solidFill>
                            <a:srgbClr val="00133B"/>
                          </a:solidFill>
                          <a:latin typeface="Calibri" pitchFamily="34" charset="0"/>
                          <a:ea typeface="Calibri" pitchFamily="34" charset="-122"/>
                          <a:cs typeface="Calibri" pitchFamily="34" charset="-120"/>
                        </a:rPr>
                        <a:t>Cancelled</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2,308</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EF7E29"/>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93</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0133B"/>
                          </a:solidFill>
                          <a:latin typeface="Calibri" pitchFamily="34" charset="0"/>
                          <a:ea typeface="Calibri" pitchFamily="34" charset="-122"/>
                          <a:cs typeface="Calibri" pitchFamily="34" charset="-120"/>
                        </a:rPr>
                        <a:t>Returned</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1,412</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EF7E29"/>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91440" marR="91440" marT="45720" marB="45720" anchor="ctr">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4EA"/>
                    </a:solidFill>
                  </a:tcPr>
                </a:tc>
              </a:tr>
            </a:tbl>
          </a:graphicData>
        </a:graphic>
      </p:graphicFrame>
      <p:sp>
        <p:nvSpPr>
          <p:cNvPr id="5" name="Text 2"/>
          <p:cNvSpPr txBox="1"/>
          <p:nvPr/>
        </p:nvSpPr>
        <p:spPr>
          <a:xfrm>
            <a:off x="548640" y="4069080"/>
            <a:ext cx="6675120" cy="274320"/>
          </a:xfrm>
          <a:prstGeom prst="rect">
            <a:avLst/>
          </a:prstGeom>
          <a:noFill/>
          <a:ln/>
        </p:spPr>
        <p:txBody>
          <a:bodyPr wrap="square" lIns="0" tIns="0" rIns="0" bIns="0" rtlCol="0" anchor="ctr"/>
          <a:lstStyle/>
          <a:p>
            <a:pPr indent="0" marL="0">
              <a:buNone/>
            </a:pPr>
            <a:r>
              <a:rPr lang="en-US" sz="1200" i="1" dirty="0">
                <a:solidFill>
                  <a:srgbClr val="EF7E29"/>
                </a:solidFill>
                <a:latin typeface="Calibri" pitchFamily="34" charset="0"/>
                <a:ea typeface="Calibri" pitchFamily="34" charset="-122"/>
                <a:cs typeface="Calibri" pitchFamily="34" charset="-120"/>
              </a:rPr>
              <a:t>Orange cells are mismatches</a:t>
            </a:r>
            <a:endParaRPr lang="en-US" sz="1200" dirty="0"/>
          </a:p>
        </p:txBody>
      </p:sp>
      <p:sp>
        <p:nvSpPr>
          <p:cNvPr id="6" name="Shape 3"/>
          <p:cNvSpPr/>
          <p:nvPr/>
        </p:nvSpPr>
        <p:spPr>
          <a:xfrm>
            <a:off x="7589520" y="1691640"/>
            <a:ext cx="4069080" cy="1783080"/>
          </a:xfrm>
          <a:prstGeom prst="roundRect">
            <a:avLst>
              <a:gd name="adj" fmla="val 5128"/>
            </a:avLst>
          </a:prstGeom>
          <a:solidFill>
            <a:srgbClr val="00133B"/>
          </a:solidFill>
          <a:ln/>
        </p:spPr>
      </p:sp>
      <p:sp>
        <p:nvSpPr>
          <p:cNvPr id="7" name="Text 4"/>
          <p:cNvSpPr txBox="1"/>
          <p:nvPr/>
        </p:nvSpPr>
        <p:spPr>
          <a:xfrm>
            <a:off x="7818120" y="1801368"/>
            <a:ext cx="3657600" cy="640080"/>
          </a:xfrm>
          <a:prstGeom prst="rect">
            <a:avLst/>
          </a:prstGeom>
          <a:noFill/>
          <a:ln/>
        </p:spPr>
        <p:txBody>
          <a:bodyPr wrap="square" lIns="0" tIns="0" rIns="0" bIns="0" rtlCol="0" anchor="ctr"/>
          <a:lstStyle/>
          <a:p>
            <a:pPr indent="0" marL="0">
              <a:buNone/>
            </a:pPr>
            <a:r>
              <a:rPr lang="en-US" sz="3800" b="1" dirty="0">
                <a:solidFill>
                  <a:srgbClr val="F8A91A"/>
                </a:solidFill>
                <a:latin typeface="Calibri" pitchFamily="34" charset="0"/>
                <a:ea typeface="Calibri" pitchFamily="34" charset="-122"/>
                <a:cs typeface="Calibri" pitchFamily="34" charset="-120"/>
              </a:rPr>
              <a:t>3,720</a:t>
            </a:r>
            <a:endParaRPr lang="en-US" sz="3800" dirty="0"/>
          </a:p>
        </p:txBody>
      </p:sp>
      <p:sp>
        <p:nvSpPr>
          <p:cNvPr id="8" name="Text 5"/>
          <p:cNvSpPr txBox="1"/>
          <p:nvPr/>
        </p:nvSpPr>
        <p:spPr>
          <a:xfrm>
            <a:off x="7818120" y="2468880"/>
            <a:ext cx="3657600" cy="4572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cancelled or returned orders still marked Paid</a:t>
            </a:r>
            <a:endParaRPr lang="en-US" sz="1300" dirty="0"/>
          </a:p>
        </p:txBody>
      </p:sp>
      <p:sp>
        <p:nvSpPr>
          <p:cNvPr id="9" name="Text 6"/>
          <p:cNvSpPr txBox="1"/>
          <p:nvPr/>
        </p:nvSpPr>
        <p:spPr>
          <a:xfrm>
            <a:off x="7818120" y="2971800"/>
            <a:ext cx="3657600" cy="365760"/>
          </a:xfrm>
          <a:prstGeom prst="rect">
            <a:avLst/>
          </a:prstGeom>
          <a:noFill/>
          <a:ln/>
        </p:spPr>
        <p:txBody>
          <a:bodyPr wrap="square" lIns="0" tIns="0" rIns="0" bIns="0" rtlCol="0" anchor="ctr"/>
          <a:lstStyle/>
          <a:p>
            <a:pPr indent="0" marL="0">
              <a:buNone/>
            </a:pPr>
            <a:r>
              <a:rPr lang="en-US" sz="1300" b="1" dirty="0">
                <a:solidFill>
                  <a:srgbClr val="F8A91A"/>
                </a:solidFill>
                <a:latin typeface="Calibri" pitchFamily="34" charset="0"/>
                <a:ea typeface="Calibri" pitchFamily="34" charset="-122"/>
                <a:cs typeface="Calibri" pitchFamily="34" charset="-120"/>
              </a:rPr>
              <a:t>R269,061: refunds may be owed</a:t>
            </a:r>
            <a:endParaRPr lang="en-US" sz="1300" dirty="0"/>
          </a:p>
        </p:txBody>
      </p:sp>
      <p:sp>
        <p:nvSpPr>
          <p:cNvPr id="10" name="Shape 7"/>
          <p:cNvSpPr/>
          <p:nvPr/>
        </p:nvSpPr>
        <p:spPr>
          <a:xfrm>
            <a:off x="7589520" y="3657600"/>
            <a:ext cx="4069080" cy="1783080"/>
          </a:xfrm>
          <a:prstGeom prst="roundRect">
            <a:avLst>
              <a:gd name="adj" fmla="val 5128"/>
            </a:avLst>
          </a:prstGeom>
          <a:solidFill>
            <a:srgbClr val="FFF4EA"/>
          </a:solidFill>
          <a:ln/>
        </p:spPr>
      </p:sp>
      <p:sp>
        <p:nvSpPr>
          <p:cNvPr id="11" name="Text 8"/>
          <p:cNvSpPr txBox="1"/>
          <p:nvPr/>
        </p:nvSpPr>
        <p:spPr>
          <a:xfrm>
            <a:off x="7818120" y="3767328"/>
            <a:ext cx="3657600" cy="640080"/>
          </a:xfrm>
          <a:prstGeom prst="rect">
            <a:avLst/>
          </a:prstGeom>
          <a:noFill/>
          <a:ln/>
        </p:spPr>
        <p:txBody>
          <a:bodyPr wrap="square" lIns="0" tIns="0" rIns="0" bIns="0" rtlCol="0" anchor="ctr"/>
          <a:lstStyle/>
          <a:p>
            <a:pPr indent="0" marL="0">
              <a:buNone/>
            </a:pPr>
            <a:r>
              <a:rPr lang="en-US" sz="3800" b="1" dirty="0">
                <a:solidFill>
                  <a:srgbClr val="EF7E29"/>
                </a:solidFill>
                <a:latin typeface="Calibri" pitchFamily="34" charset="0"/>
                <a:ea typeface="Calibri" pitchFamily="34" charset="-122"/>
                <a:cs typeface="Calibri" pitchFamily="34" charset="-120"/>
              </a:rPr>
              <a:t>3,147</a:t>
            </a:r>
            <a:endParaRPr lang="en-US" sz="3800" dirty="0"/>
          </a:p>
        </p:txBody>
      </p:sp>
      <p:sp>
        <p:nvSpPr>
          <p:cNvPr id="12" name="Text 9"/>
          <p:cNvSpPr txBox="1"/>
          <p:nvPr/>
        </p:nvSpPr>
        <p:spPr>
          <a:xfrm>
            <a:off x="7818120" y="4434840"/>
            <a:ext cx="3657600" cy="45720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completed orders with a failed or refunded payment</a:t>
            </a:r>
            <a:endParaRPr lang="en-US" sz="1300" dirty="0"/>
          </a:p>
        </p:txBody>
      </p:sp>
      <p:sp>
        <p:nvSpPr>
          <p:cNvPr id="13" name="Text 10"/>
          <p:cNvSpPr txBox="1"/>
          <p:nvPr/>
        </p:nvSpPr>
        <p:spPr>
          <a:xfrm>
            <a:off x="7818120" y="4937760"/>
            <a:ext cx="3657600" cy="365760"/>
          </a:xfrm>
          <a:prstGeom prst="rect">
            <a:avLst/>
          </a:prstGeom>
          <a:noFill/>
          <a:ln/>
        </p:spPr>
        <p:txBody>
          <a:bodyPr wrap="square" lIns="0" tIns="0" rIns="0" bIns="0" rtlCol="0" anchor="ctr"/>
          <a:lstStyle/>
          <a:p>
            <a:pPr indent="0" marL="0">
              <a:buNone/>
            </a:pPr>
            <a:r>
              <a:rPr lang="en-US" sz="1300" b="1" dirty="0">
                <a:solidFill>
                  <a:srgbClr val="00133B"/>
                </a:solidFill>
                <a:latin typeface="Calibri" pitchFamily="34" charset="0"/>
                <a:ea typeface="Calibri" pitchFamily="34" charset="-122"/>
                <a:cs typeface="Calibri" pitchFamily="34" charset="-120"/>
              </a:rPr>
              <a:t>R218,881: delivered, but money not kept</a:t>
            </a:r>
            <a:endParaRPr lang="en-US" sz="1300" dirty="0"/>
          </a:p>
        </p:txBody>
      </p:sp>
      <p:sp>
        <p:nvSpPr>
          <p:cNvPr id="14" name="Shape 11"/>
          <p:cNvSpPr/>
          <p:nvPr/>
        </p:nvSpPr>
        <p:spPr>
          <a:xfrm>
            <a:off x="548640" y="4572000"/>
            <a:ext cx="6675120" cy="1600200"/>
          </a:xfrm>
          <a:prstGeom prst="roundRect">
            <a:avLst>
              <a:gd name="adj" fmla="val 5714"/>
            </a:avLst>
          </a:prstGeom>
          <a:solidFill>
            <a:srgbClr val="00133B"/>
          </a:solidFill>
          <a:ln/>
        </p:spPr>
      </p:sp>
      <p:sp>
        <p:nvSpPr>
          <p:cNvPr id="15" name="Text 12"/>
          <p:cNvSpPr txBox="1"/>
          <p:nvPr/>
        </p:nvSpPr>
        <p:spPr>
          <a:xfrm>
            <a:off x="777240" y="4663440"/>
            <a:ext cx="6217920" cy="141732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6,867 orders (14% of all) have an order status and a payment status that contradict each other. Our revenue figure already leaves these out, but customers may be owed refunds and some sales may be unpaid.</a:t>
            </a:r>
            <a:endParaRPr lang="en-US" sz="1500" dirty="0"/>
          </a:p>
        </p:txBody>
      </p:sp>
      <p:pic>
        <p:nvPicPr>
          <p:cNvPr id="16" name="Image 0" descr="Bright_Store_Analysis_logo.png">    </p:cNvPr>
          <p:cNvPicPr>
            <a:picLocks noChangeAspect="1"/>
          </p:cNvPicPr>
          <p:nvPr/>
        </p:nvPicPr>
        <p:blipFill>
          <a:blip r:embed="rId1"/>
          <a:stretch>
            <a:fillRect/>
          </a:stretch>
        </p:blipFill>
        <p:spPr>
          <a:xfrm>
            <a:off x="548640" y="6382512"/>
            <a:ext cx="1243584" cy="291112"/>
          </a:xfrm>
          <a:prstGeom prst="rect">
            <a:avLst/>
          </a:prstGeom>
        </p:spPr>
      </p:pic>
      <p:sp>
        <p:nvSpPr>
          <p:cNvPr id="17" name="Text 1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Do discounts work?</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Do customers buy more when the discount is bigger?</a:t>
            </a:r>
            <a:endParaRPr lang="en-US" sz="1600" dirty="0"/>
          </a:p>
        </p:txBody>
      </p:sp>
      <p:sp>
        <p:nvSpPr>
          <p:cNvPr id="4" name="Text 2"/>
          <p:cNvSpPr txBox="1"/>
          <p:nvPr/>
        </p:nvSpPr>
        <p:spPr>
          <a:xfrm>
            <a:off x="548640" y="1508760"/>
            <a:ext cx="548640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Average items per order</a:t>
            </a:r>
            <a:endParaRPr lang="en-US" sz="1400" dirty="0"/>
          </a:p>
        </p:txBody>
      </p:sp>
      <p:sp>
        <p:nvSpPr>
          <p:cNvPr id="5" name="Text 3"/>
          <p:cNvSpPr txBox="1"/>
          <p:nvPr/>
        </p:nvSpPr>
        <p:spPr>
          <a:xfrm>
            <a:off x="6263640" y="1508760"/>
            <a:ext cx="5486400" cy="320040"/>
          </a:xfrm>
          <a:prstGeom prst="rect">
            <a:avLst/>
          </a:prstGeom>
          <a:noFill/>
          <a:ln/>
        </p:spPr>
        <p:txBody>
          <a:bodyPr wrap="square" lIns="0" tIns="0" rIns="0" bIns="0" rtlCol="0" anchor="ctr"/>
          <a:lstStyle/>
          <a:p>
            <a:pPr indent="0" marL="0">
              <a:buNone/>
            </a:pPr>
            <a:r>
              <a:rPr lang="en-US" sz="1400" b="1" dirty="0">
                <a:solidFill>
                  <a:srgbClr val="00133B"/>
                </a:solidFill>
                <a:latin typeface="Calibri" pitchFamily="34" charset="0"/>
                <a:ea typeface="Calibri" pitchFamily="34" charset="-122"/>
                <a:cs typeface="Calibri" pitchFamily="34" charset="-120"/>
              </a:rPr>
              <a:t>Average revenue per order (after discount)</a:t>
            </a:r>
            <a:endParaRPr lang="en-US" sz="1400" dirty="0"/>
          </a:p>
        </p:txBody>
      </p:sp>
      <p:graphicFrame>
        <p:nvGraphicFramePr>
          <p:cNvPr id="6" name="Chart 0" descr=""/>
          <p:cNvGraphicFramePr/>
          <p:nvPr/>
        </p:nvGraphicFramePr>
        <p:xfrm>
          <a:off x="548640" y="1828800"/>
          <a:ext cx="544068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263640" y="1828800"/>
          <a:ext cx="5394960" cy="30175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48640" y="4846320"/>
            <a:ext cx="11064240" cy="274320"/>
          </a:xfrm>
          <a:prstGeom prst="rect">
            <a:avLst/>
          </a:prstGeom>
          <a:noFill/>
          <a:ln/>
        </p:spPr>
        <p:txBody>
          <a:bodyPr wrap="square" lIns="0" tIns="0" rIns="0" bIns="0" rtlCol="0" anchor="ctr"/>
          <a:lstStyle/>
          <a:p>
            <a:pPr algn="ctr" indent="0" marL="0">
              <a:buNone/>
            </a:pPr>
            <a:r>
              <a:rPr lang="en-US" sz="1100" i="1" dirty="0">
                <a:solidFill>
                  <a:srgbClr val="5A6272"/>
                </a:solidFill>
                <a:latin typeface="Calibri" pitchFamily="34" charset="0"/>
                <a:ea typeface="Calibri" pitchFamily="34" charset="-122"/>
                <a:cs typeface="Calibri" pitchFamily="34" charset="-120"/>
              </a:rPr>
              <a:t>Discount level</a:t>
            </a:r>
            <a:endParaRPr lang="en-US" sz="1100" dirty="0"/>
          </a:p>
        </p:txBody>
      </p:sp>
      <p:sp>
        <p:nvSpPr>
          <p:cNvPr id="9" name="Shape 5"/>
          <p:cNvSpPr/>
          <p:nvPr/>
        </p:nvSpPr>
        <p:spPr>
          <a:xfrm>
            <a:off x="548640" y="5212080"/>
            <a:ext cx="11109960" cy="960120"/>
          </a:xfrm>
          <a:prstGeom prst="roundRect">
            <a:avLst>
              <a:gd name="adj" fmla="val 9524"/>
            </a:avLst>
          </a:prstGeom>
          <a:solidFill>
            <a:srgbClr val="00133B"/>
          </a:solidFill>
          <a:ln/>
        </p:spPr>
      </p:sp>
      <p:sp>
        <p:nvSpPr>
          <p:cNvPr id="10" name="Text 6"/>
          <p:cNvSpPr txBox="1"/>
          <p:nvPr/>
        </p:nvSpPr>
        <p:spPr>
          <a:xfrm>
            <a:off x="777240" y="5303520"/>
            <a:ext cx="10652760" cy="777240"/>
          </a:xfrm>
          <a:prstGeom prst="rect">
            <a:avLst/>
          </a:prstGeom>
          <a:noFill/>
          <a:ln/>
        </p:spPr>
        <p:txBody>
          <a:bodyPr wrap="square" lIns="0" tIns="0" rIns="0" bIns="0" rtlCol="0" anchor="ctr"/>
          <a:lstStyle/>
          <a:p>
            <a:pPr indent="0" marL="0">
              <a:buNone/>
            </a:pPr>
            <a:r>
              <a:rPr lang="en-US" sz="1500" b="1" dirty="0">
                <a:solidFill>
                  <a:srgbClr val="F8A91A"/>
                </a:solidFill>
                <a:latin typeface="Calibri" pitchFamily="34" charset="0"/>
                <a:ea typeface="Calibri" pitchFamily="34" charset="-122"/>
                <a:cs typeface="Calibri" pitchFamily="34" charset="-120"/>
              </a:rPr>
              <a:t>So what?  </a:t>
            </a:r>
            <a:pPr indent="0" marL="0">
              <a:buNone/>
            </a:pPr>
            <a:r>
              <a:rPr lang="en-US" sz="1500" dirty="0">
                <a:solidFill>
                  <a:srgbClr val="FFFFFF"/>
                </a:solidFill>
                <a:latin typeface="Calibri" pitchFamily="34" charset="0"/>
                <a:ea typeface="Calibri" pitchFamily="34" charset="-122"/>
                <a:cs typeface="Calibri" pitchFamily="34" charset="-120"/>
              </a:rPr>
              <a:t>Customers do not buy more when we discount more: about 1.9 items per order at every level. So deeper discounts only cut revenue per order, from R74.98 to R55.65. The 20% and 30% tiers are 11% of orders but 35% of all discount cost (R101,440).</a:t>
            </a:r>
            <a:endParaRPr lang="en-US" sz="1500" dirty="0"/>
          </a:p>
        </p:txBody>
      </p:sp>
      <p:pic>
        <p:nvPicPr>
          <p:cNvPr id="11" name="Image 0" descr="Bright_Store_Analysis_logo.png">    </p:cNvPr>
          <p:cNvPicPr>
            <a:picLocks noChangeAspect="1"/>
          </p:cNvPicPr>
          <p:nvPr/>
        </p:nvPicPr>
        <p:blipFill>
          <a:blip r:embed="rId3"/>
          <a:stretch>
            <a:fillRect/>
          </a:stretch>
        </p:blipFill>
        <p:spPr>
          <a:xfrm>
            <a:off x="548640" y="6382512"/>
            <a:ext cx="1243584" cy="291112"/>
          </a:xfrm>
          <a:prstGeom prst="rect">
            <a:avLst/>
          </a:prstGeom>
        </p:spPr>
      </p:pic>
      <p:sp>
        <p:nvSpPr>
          <p:cNvPr id="12" name="Text 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400" b="1" dirty="0">
                <a:solidFill>
                  <a:srgbClr val="00133B"/>
                </a:solidFill>
                <a:latin typeface="Calibri" pitchFamily="34" charset="0"/>
                <a:ea typeface="Calibri" pitchFamily="34" charset="-122"/>
                <a:cs typeface="Calibri" pitchFamily="34" charset="-120"/>
              </a:rPr>
              <a:t>What to keep in mind about the data</a:t>
            </a:r>
            <a:endParaRPr lang="en-US" sz="3400" dirty="0"/>
          </a:p>
        </p:txBody>
      </p:sp>
      <p:sp>
        <p:nvSpPr>
          <p:cNvPr id="3" name="Text 1"/>
          <p:cNvSpPr txBox="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rgbClr val="5A6272"/>
                </a:solidFill>
                <a:latin typeface="Calibri" pitchFamily="34" charset="0"/>
                <a:ea typeface="Calibri" pitchFamily="34" charset="-122"/>
                <a:cs typeface="Calibri" pitchFamily="34" charset="-120"/>
              </a:rPr>
              <a:t>Honest limits, so the numbers are used with confidence</a:t>
            </a:r>
            <a:endParaRPr lang="en-US" sz="1600" dirty="0"/>
          </a:p>
        </p:txBody>
      </p:sp>
      <p:sp>
        <p:nvSpPr>
          <p:cNvPr id="4" name="Shape 2"/>
          <p:cNvSpPr/>
          <p:nvPr/>
        </p:nvSpPr>
        <p:spPr>
          <a:xfrm>
            <a:off x="548640" y="1645920"/>
            <a:ext cx="5440680" cy="2057400"/>
          </a:xfrm>
          <a:prstGeom prst="roundRect">
            <a:avLst>
              <a:gd name="adj" fmla="val 4444"/>
            </a:avLst>
          </a:prstGeom>
          <a:solidFill>
            <a:srgbClr val="FFF4EA"/>
          </a:solidFill>
          <a:ln/>
        </p:spPr>
      </p:sp>
      <p:sp>
        <p:nvSpPr>
          <p:cNvPr id="5" name="Shape 3"/>
          <p:cNvSpPr/>
          <p:nvPr/>
        </p:nvSpPr>
        <p:spPr>
          <a:xfrm>
            <a:off x="777240" y="1874520"/>
            <a:ext cx="548640" cy="548640"/>
          </a:xfrm>
          <a:prstGeom prst="ellipse">
            <a:avLst/>
          </a:prstGeom>
          <a:solidFill>
            <a:srgbClr val="EF7E29"/>
          </a:solidFill>
          <a:ln/>
        </p:spPr>
      </p:sp>
      <p:pic>
        <p:nvPicPr>
          <p:cNvPr id="6" name="Image 0" descr="preencoded.png">    </p:cNvPr>
          <p:cNvPicPr>
            <a:picLocks noChangeAspect="1"/>
          </p:cNvPicPr>
          <p:nvPr/>
        </p:nvPicPr>
        <p:blipFill>
          <a:blip r:embed="rId1"/>
          <a:stretch>
            <a:fillRect/>
          </a:stretch>
        </p:blipFill>
        <p:spPr>
          <a:xfrm>
            <a:off x="914400" y="2011680"/>
            <a:ext cx="274320" cy="274320"/>
          </a:xfrm>
          <a:prstGeom prst="rect">
            <a:avLst/>
          </a:prstGeom>
        </p:spPr>
      </p:pic>
      <p:sp>
        <p:nvSpPr>
          <p:cNvPr id="7" name="Text 4"/>
          <p:cNvSpPr txBox="1"/>
          <p:nvPr/>
        </p:nvSpPr>
        <p:spPr>
          <a:xfrm>
            <a:off x="1508760" y="1874520"/>
            <a:ext cx="4297680" cy="54864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Monitor price</a:t>
            </a:r>
            <a:endParaRPr lang="en-US" sz="1800" dirty="0"/>
          </a:p>
        </p:txBody>
      </p:sp>
      <p:sp>
        <p:nvSpPr>
          <p:cNvPr id="8" name="Text 5"/>
          <p:cNvSpPr txBox="1"/>
          <p:nvPr/>
        </p:nvSpPr>
        <p:spPr>
          <a:xfrm>
            <a:off x="777240" y="2560320"/>
            <a:ext cx="4983480" cy="105156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Monitor is priced at R21, far below other electronics (R18 to R260 range, typical monitors cost much more). If the true price is higher, revenue is understated by about R9,400 for every R10 added.</a:t>
            </a:r>
            <a:endParaRPr lang="en-US" sz="1300" dirty="0"/>
          </a:p>
        </p:txBody>
      </p:sp>
      <p:sp>
        <p:nvSpPr>
          <p:cNvPr id="9" name="Shape 6"/>
          <p:cNvSpPr/>
          <p:nvPr/>
        </p:nvSpPr>
        <p:spPr>
          <a:xfrm>
            <a:off x="6172200" y="1645920"/>
            <a:ext cx="5440680" cy="2057400"/>
          </a:xfrm>
          <a:prstGeom prst="roundRect">
            <a:avLst>
              <a:gd name="adj" fmla="val 4444"/>
            </a:avLst>
          </a:prstGeom>
          <a:solidFill>
            <a:srgbClr val="FFF4EA"/>
          </a:solidFill>
          <a:ln/>
        </p:spPr>
      </p:sp>
      <p:sp>
        <p:nvSpPr>
          <p:cNvPr id="10" name="Shape 7"/>
          <p:cNvSpPr/>
          <p:nvPr/>
        </p:nvSpPr>
        <p:spPr>
          <a:xfrm>
            <a:off x="6400800" y="1874520"/>
            <a:ext cx="548640" cy="548640"/>
          </a:xfrm>
          <a:prstGeom prst="ellipse">
            <a:avLst/>
          </a:prstGeom>
          <a:solidFill>
            <a:srgbClr val="EF7E29"/>
          </a:solidFill>
          <a:ln/>
        </p:spPr>
      </p:sp>
      <p:pic>
        <p:nvPicPr>
          <p:cNvPr id="11" name="Image 1" descr="preencoded.png">    </p:cNvPr>
          <p:cNvPicPr>
            <a:picLocks noChangeAspect="1"/>
          </p:cNvPicPr>
          <p:nvPr/>
        </p:nvPicPr>
        <p:blipFill>
          <a:blip r:embed="rId2"/>
          <a:stretch>
            <a:fillRect/>
          </a:stretch>
        </p:blipFill>
        <p:spPr>
          <a:xfrm>
            <a:off x="6537960" y="2011680"/>
            <a:ext cx="274320" cy="274320"/>
          </a:xfrm>
          <a:prstGeom prst="rect">
            <a:avLst/>
          </a:prstGeom>
        </p:spPr>
      </p:pic>
      <p:sp>
        <p:nvSpPr>
          <p:cNvPr id="12" name="Text 8"/>
          <p:cNvSpPr txBox="1"/>
          <p:nvPr/>
        </p:nvSpPr>
        <p:spPr>
          <a:xfrm>
            <a:off x="7132320" y="1874520"/>
            <a:ext cx="4297680" cy="54864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Filled-in dates</a:t>
            </a:r>
            <a:endParaRPr lang="en-US" sz="1800" dirty="0"/>
          </a:p>
        </p:txBody>
      </p:sp>
      <p:sp>
        <p:nvSpPr>
          <p:cNvPr id="13" name="Text 9"/>
          <p:cNvSpPr txBox="1"/>
          <p:nvPr/>
        </p:nvSpPr>
        <p:spPr>
          <a:xfrm>
            <a:off x="6400800" y="2560320"/>
            <a:ext cx="4983480" cy="105156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35 orders had no date and were given the most common date (5 September 2025). That is 0.07% of orders, but that day looks busier than it was.</a:t>
            </a:r>
            <a:endParaRPr lang="en-US" sz="1300" dirty="0"/>
          </a:p>
        </p:txBody>
      </p:sp>
      <p:sp>
        <p:nvSpPr>
          <p:cNvPr id="14" name="Shape 10"/>
          <p:cNvSpPr/>
          <p:nvPr/>
        </p:nvSpPr>
        <p:spPr>
          <a:xfrm>
            <a:off x="548640" y="3886200"/>
            <a:ext cx="5440680" cy="2057400"/>
          </a:xfrm>
          <a:prstGeom prst="roundRect">
            <a:avLst>
              <a:gd name="adj" fmla="val 4444"/>
            </a:avLst>
          </a:prstGeom>
          <a:solidFill>
            <a:srgbClr val="FFF4EA"/>
          </a:solidFill>
          <a:ln/>
        </p:spPr>
      </p:sp>
      <p:sp>
        <p:nvSpPr>
          <p:cNvPr id="15" name="Shape 11"/>
          <p:cNvSpPr/>
          <p:nvPr/>
        </p:nvSpPr>
        <p:spPr>
          <a:xfrm>
            <a:off x="777240" y="4114800"/>
            <a:ext cx="548640" cy="548640"/>
          </a:xfrm>
          <a:prstGeom prst="ellipse">
            <a:avLst/>
          </a:prstGeom>
          <a:solidFill>
            <a:srgbClr val="EF7E29"/>
          </a:solidFill>
          <a:ln/>
        </p:spPr>
      </p:sp>
      <p:pic>
        <p:nvPicPr>
          <p:cNvPr id="16" name="Image 2" descr="preencoded.png">    </p:cNvPr>
          <p:cNvPicPr>
            <a:picLocks noChangeAspect="1"/>
          </p:cNvPicPr>
          <p:nvPr/>
        </p:nvPicPr>
        <p:blipFill>
          <a:blip r:embed="rId3"/>
          <a:stretch>
            <a:fillRect/>
          </a:stretch>
        </p:blipFill>
        <p:spPr>
          <a:xfrm>
            <a:off x="914400" y="4251960"/>
            <a:ext cx="274320" cy="274320"/>
          </a:xfrm>
          <a:prstGeom prst="rect">
            <a:avLst/>
          </a:prstGeom>
        </p:spPr>
      </p:pic>
      <p:sp>
        <p:nvSpPr>
          <p:cNvPr id="17" name="Text 12"/>
          <p:cNvSpPr txBox="1"/>
          <p:nvPr/>
        </p:nvSpPr>
        <p:spPr>
          <a:xfrm>
            <a:off x="1508760" y="4114800"/>
            <a:ext cx="4297680" cy="54864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Guest orders</a:t>
            </a:r>
            <a:endParaRPr lang="en-US" sz="1800" dirty="0"/>
          </a:p>
        </p:txBody>
      </p:sp>
      <p:sp>
        <p:nvSpPr>
          <p:cNvPr id="18" name="Text 13"/>
          <p:cNvSpPr txBox="1"/>
          <p:nvPr/>
        </p:nvSpPr>
        <p:spPr>
          <a:xfrm>
            <a:off x="777240" y="4800600"/>
            <a:ext cx="4983480" cy="105156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30 orders have no customer record (a placeholder ID). They are 0.06% of revenue and are kept in sales totals but left out of customer analysis.</a:t>
            </a:r>
            <a:endParaRPr lang="en-US" sz="1300" dirty="0"/>
          </a:p>
        </p:txBody>
      </p:sp>
      <p:sp>
        <p:nvSpPr>
          <p:cNvPr id="19" name="Shape 14"/>
          <p:cNvSpPr/>
          <p:nvPr/>
        </p:nvSpPr>
        <p:spPr>
          <a:xfrm>
            <a:off x="6172200" y="3886200"/>
            <a:ext cx="5440680" cy="2057400"/>
          </a:xfrm>
          <a:prstGeom prst="roundRect">
            <a:avLst>
              <a:gd name="adj" fmla="val 4444"/>
            </a:avLst>
          </a:prstGeom>
          <a:solidFill>
            <a:srgbClr val="FFF4EA"/>
          </a:solidFill>
          <a:ln/>
        </p:spPr>
      </p:sp>
      <p:sp>
        <p:nvSpPr>
          <p:cNvPr id="20" name="Shape 15"/>
          <p:cNvSpPr/>
          <p:nvPr/>
        </p:nvSpPr>
        <p:spPr>
          <a:xfrm>
            <a:off x="6400800" y="4114800"/>
            <a:ext cx="548640" cy="548640"/>
          </a:xfrm>
          <a:prstGeom prst="ellipse">
            <a:avLst/>
          </a:prstGeom>
          <a:solidFill>
            <a:srgbClr val="EF7E29"/>
          </a:solidFill>
          <a:ln/>
        </p:spPr>
      </p:sp>
      <p:pic>
        <p:nvPicPr>
          <p:cNvPr id="21" name="Image 3" descr="preencoded.png">    </p:cNvPr>
          <p:cNvPicPr>
            <a:picLocks noChangeAspect="1"/>
          </p:cNvPicPr>
          <p:nvPr/>
        </p:nvPicPr>
        <p:blipFill>
          <a:blip r:embed="rId4"/>
          <a:stretch>
            <a:fillRect/>
          </a:stretch>
        </p:blipFill>
        <p:spPr>
          <a:xfrm>
            <a:off x="6537960" y="4251960"/>
            <a:ext cx="274320" cy="274320"/>
          </a:xfrm>
          <a:prstGeom prst="rect">
            <a:avLst/>
          </a:prstGeom>
        </p:spPr>
      </p:pic>
      <p:sp>
        <p:nvSpPr>
          <p:cNvPr id="22" name="Text 16"/>
          <p:cNvSpPr txBox="1"/>
          <p:nvPr/>
        </p:nvSpPr>
        <p:spPr>
          <a:xfrm>
            <a:off x="7132320" y="4114800"/>
            <a:ext cx="4297680" cy="548640"/>
          </a:xfrm>
          <a:prstGeom prst="rect">
            <a:avLst/>
          </a:prstGeom>
          <a:noFill/>
          <a:ln/>
        </p:spPr>
        <p:txBody>
          <a:bodyPr wrap="square" lIns="0" tIns="0" rIns="0" bIns="0" rtlCol="0" anchor="ctr"/>
          <a:lstStyle/>
          <a:p>
            <a:pPr indent="0" marL="0">
              <a:buNone/>
            </a:pPr>
            <a:r>
              <a:rPr lang="en-US" sz="1800" b="1" dirty="0">
                <a:solidFill>
                  <a:srgbClr val="00133B"/>
                </a:solidFill>
                <a:latin typeface="Calibri" pitchFamily="34" charset="0"/>
                <a:ea typeface="Calibri" pitchFamily="34" charset="-122"/>
                <a:cs typeface="Calibri" pitchFamily="34" charset="-120"/>
              </a:rPr>
              <a:t>Cause of the drop</a:t>
            </a:r>
            <a:endParaRPr lang="en-US" sz="1800" dirty="0"/>
          </a:p>
        </p:txBody>
      </p:sp>
      <p:sp>
        <p:nvSpPr>
          <p:cNvPr id="23" name="Text 17"/>
          <p:cNvSpPr txBox="1"/>
          <p:nvPr/>
        </p:nvSpPr>
        <p:spPr>
          <a:xfrm>
            <a:off x="6400800" y="4800600"/>
            <a:ext cx="4983480" cy="105156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The data shows when revenue fell and by how much, but not why. That needs checks inside the business (marketing, website, stock, data feed).</a:t>
            </a:r>
            <a:endParaRPr lang="en-US" sz="1300" dirty="0"/>
          </a:p>
        </p:txBody>
      </p:sp>
      <p:pic>
        <p:nvPicPr>
          <p:cNvPr id="24" name="Image 4" descr="Bright_Store_Analysis_logo.png">    </p:cNvPr>
          <p:cNvPicPr>
            <a:picLocks noChangeAspect="1"/>
          </p:cNvPicPr>
          <p:nvPr/>
        </p:nvPicPr>
        <p:blipFill>
          <a:blip r:embed="rId5"/>
          <a:stretch>
            <a:fillRect/>
          </a:stretch>
        </p:blipFill>
        <p:spPr>
          <a:xfrm>
            <a:off x="548640" y="6382512"/>
            <a:ext cx="1243584" cy="291112"/>
          </a:xfrm>
          <a:prstGeom prst="rect">
            <a:avLst/>
          </a:prstGeom>
        </p:spPr>
      </p:pic>
      <p:sp>
        <p:nvSpPr>
          <p:cNvPr id="25" name="Text 18"/>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5A6272"/>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133B"/>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6400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Our three recommendations</a:t>
            </a:r>
            <a:endParaRPr lang="en-US" sz="36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indent="0" marL="0">
              <a:buNone/>
            </a:pPr>
            <a:r>
              <a:rPr lang="en-US" sz="1600" dirty="0">
                <a:solidFill>
                  <a:srgbClr val="F8A91A"/>
                </a:solidFill>
                <a:latin typeface="Calibri" pitchFamily="34" charset="0"/>
                <a:ea typeface="Calibri" pitchFamily="34" charset="-122"/>
                <a:cs typeface="Calibri" pitchFamily="34" charset="-120"/>
              </a:rPr>
              <a:t>What the company should do next, based on the data</a:t>
            </a:r>
            <a:endParaRPr lang="en-US" sz="1600" dirty="0"/>
          </a:p>
        </p:txBody>
      </p:sp>
      <p:sp>
        <p:nvSpPr>
          <p:cNvPr id="4" name="Shape 2"/>
          <p:cNvSpPr/>
          <p:nvPr/>
        </p:nvSpPr>
        <p:spPr>
          <a:xfrm>
            <a:off x="548640" y="1600200"/>
            <a:ext cx="3566160" cy="4343400"/>
          </a:xfrm>
          <a:prstGeom prst="roundRect">
            <a:avLst>
              <a:gd name="adj" fmla="val 2564"/>
            </a:avLst>
          </a:prstGeom>
          <a:solidFill>
            <a:srgbClr val="0B2352"/>
          </a:solidFill>
          <a:ln/>
        </p:spPr>
      </p:sp>
      <p:sp>
        <p:nvSpPr>
          <p:cNvPr id="5" name="Shape 3"/>
          <p:cNvSpPr/>
          <p:nvPr/>
        </p:nvSpPr>
        <p:spPr>
          <a:xfrm>
            <a:off x="777240" y="1783080"/>
            <a:ext cx="640080" cy="640080"/>
          </a:xfrm>
          <a:prstGeom prst="ellipse">
            <a:avLst/>
          </a:prstGeom>
          <a:solidFill>
            <a:srgbClr val="EF7E29"/>
          </a:solidFill>
          <a:ln/>
        </p:spPr>
      </p:sp>
      <p:sp>
        <p:nvSpPr>
          <p:cNvPr id="6" name="Text 4"/>
          <p:cNvSpPr txBox="1"/>
          <p:nvPr/>
        </p:nvSpPr>
        <p:spPr>
          <a:xfrm>
            <a:off x="777240" y="17830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777240" y="2560320"/>
            <a:ext cx="3108960" cy="777240"/>
          </a:xfrm>
          <a:prstGeom prst="rect">
            <a:avLst/>
          </a:prstGeom>
          <a:noFill/>
          <a:ln/>
        </p:spPr>
        <p:txBody>
          <a:bodyPr wrap="square" lIns="0" tIns="0" rIns="0" bIns="0" rtlCol="0" anchor="t"/>
          <a:lstStyle/>
          <a:p>
            <a:pPr indent="0" marL="0">
              <a:buNone/>
            </a:pPr>
            <a:r>
              <a:rPr lang="en-US" sz="1800" b="1" dirty="0">
                <a:solidFill>
                  <a:srgbClr val="F8A91A"/>
                </a:solidFill>
                <a:latin typeface="Calibri" pitchFamily="34" charset="0"/>
                <a:ea typeface="Calibri" pitchFamily="34" charset="-122"/>
                <a:cs typeface="Calibri" pitchFamily="34" charset="-120"/>
              </a:rPr>
              <a:t>Find out why orders fell by a third</a:t>
            </a:r>
            <a:endParaRPr lang="en-US" sz="1800" dirty="0"/>
          </a:p>
        </p:txBody>
      </p:sp>
      <p:sp>
        <p:nvSpPr>
          <p:cNvPr id="8" name="Text 6"/>
          <p:cNvSpPr txBox="1"/>
          <p:nvPr/>
        </p:nvSpPr>
        <p:spPr>
          <a:xfrm>
            <a:off x="777240" y="3383280"/>
            <a:ext cx="3108960" cy="1417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Since February 2026 the shop earns about R34,500 less every month (about R172,600 so far). Every product, city and customer group fell equally, so the cause is probably company-wide.</a:t>
            </a:r>
            <a:endParaRPr lang="en-US" sz="1300" dirty="0"/>
          </a:p>
        </p:txBody>
      </p:sp>
      <p:sp>
        <p:nvSpPr>
          <p:cNvPr id="9" name="Text 7"/>
          <p:cNvSpPr txBox="1"/>
          <p:nvPr/>
        </p:nvSpPr>
        <p:spPr>
          <a:xfrm>
            <a:off x="777240" y="4800600"/>
            <a:ext cx="3108960" cy="1051560"/>
          </a:xfrm>
          <a:prstGeom prst="rect">
            <a:avLst/>
          </a:prstGeom>
          <a:noFill/>
          <a:ln/>
        </p:spPr>
        <p:txBody>
          <a:bodyPr wrap="square" lIns="0" tIns="0" rIns="0" bIns="0" rtlCol="0" anchor="t"/>
          <a:lstStyle/>
          <a:p>
            <a:pPr indent="0" marL="0">
              <a:buNone/>
            </a:pPr>
            <a:r>
              <a:rPr lang="en-US" sz="1200" b="1" dirty="0">
                <a:solidFill>
                  <a:srgbClr val="F8A91A"/>
                </a:solidFill>
                <a:latin typeface="Calibri" pitchFamily="34" charset="0"/>
                <a:ea typeface="Calibri" pitchFamily="34" charset="-122"/>
                <a:cs typeface="Calibri" pitchFamily="34" charset="-120"/>
              </a:rPr>
              <a:t>First step: check what changed on 1 February 2026: marketing, website or app, stock and the data feed.</a:t>
            </a:r>
            <a:endParaRPr lang="en-US" sz="1200" dirty="0"/>
          </a:p>
        </p:txBody>
      </p:sp>
      <p:sp>
        <p:nvSpPr>
          <p:cNvPr id="10" name="Shape 8"/>
          <p:cNvSpPr/>
          <p:nvPr/>
        </p:nvSpPr>
        <p:spPr>
          <a:xfrm>
            <a:off x="4297680" y="1600200"/>
            <a:ext cx="3566160" cy="4343400"/>
          </a:xfrm>
          <a:prstGeom prst="roundRect">
            <a:avLst>
              <a:gd name="adj" fmla="val 2564"/>
            </a:avLst>
          </a:prstGeom>
          <a:solidFill>
            <a:srgbClr val="0B2352"/>
          </a:solidFill>
          <a:ln/>
        </p:spPr>
      </p:sp>
      <p:sp>
        <p:nvSpPr>
          <p:cNvPr id="11" name="Shape 9"/>
          <p:cNvSpPr/>
          <p:nvPr/>
        </p:nvSpPr>
        <p:spPr>
          <a:xfrm>
            <a:off x="4526280" y="1783080"/>
            <a:ext cx="640080" cy="640080"/>
          </a:xfrm>
          <a:prstGeom prst="ellipse">
            <a:avLst/>
          </a:prstGeom>
          <a:solidFill>
            <a:srgbClr val="EF7E29"/>
          </a:solidFill>
          <a:ln/>
        </p:spPr>
      </p:sp>
      <p:sp>
        <p:nvSpPr>
          <p:cNvPr id="12" name="Text 10"/>
          <p:cNvSpPr txBox="1"/>
          <p:nvPr/>
        </p:nvSpPr>
        <p:spPr>
          <a:xfrm>
            <a:off x="4526280" y="17830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1"/>
          <p:cNvSpPr txBox="1"/>
          <p:nvPr/>
        </p:nvSpPr>
        <p:spPr>
          <a:xfrm>
            <a:off x="4526280" y="2560320"/>
            <a:ext cx="3108960" cy="777240"/>
          </a:xfrm>
          <a:prstGeom prst="rect">
            <a:avLst/>
          </a:prstGeom>
          <a:noFill/>
          <a:ln/>
        </p:spPr>
        <p:txBody>
          <a:bodyPr wrap="square" lIns="0" tIns="0" rIns="0" bIns="0" rtlCol="0" anchor="t"/>
          <a:lstStyle/>
          <a:p>
            <a:pPr indent="0" marL="0">
              <a:buNone/>
            </a:pPr>
            <a:r>
              <a:rPr lang="en-US" sz="1800" b="1" dirty="0">
                <a:solidFill>
                  <a:srgbClr val="F8A91A"/>
                </a:solidFill>
                <a:latin typeface="Calibri" pitchFamily="34" charset="0"/>
                <a:ea typeface="Calibri" pitchFamily="34" charset="-122"/>
                <a:cs typeface="Calibri" pitchFamily="34" charset="-120"/>
              </a:rPr>
              <a:t>Clean up payments and orders</a:t>
            </a:r>
            <a:endParaRPr lang="en-US" sz="1800" dirty="0"/>
          </a:p>
        </p:txBody>
      </p:sp>
      <p:sp>
        <p:nvSpPr>
          <p:cNvPr id="14" name="Text 12"/>
          <p:cNvSpPr txBox="1"/>
          <p:nvPr/>
        </p:nvSpPr>
        <p:spPr>
          <a:xfrm>
            <a:off x="4526280" y="3383280"/>
            <a:ext cx="3108960" cy="1417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6,867 orders have a status that contradicts their payment: R269,061 of cancelled or returned orders still marked Paid, and R218,881 of completed orders not paid.</a:t>
            </a:r>
            <a:endParaRPr lang="en-US" sz="1300" dirty="0"/>
          </a:p>
        </p:txBody>
      </p:sp>
      <p:sp>
        <p:nvSpPr>
          <p:cNvPr id="15" name="Text 13"/>
          <p:cNvSpPr txBox="1"/>
          <p:nvPr/>
        </p:nvSpPr>
        <p:spPr>
          <a:xfrm>
            <a:off x="4526280" y="4800600"/>
            <a:ext cx="3108960" cy="1051560"/>
          </a:xfrm>
          <a:prstGeom prst="rect">
            <a:avLst/>
          </a:prstGeom>
          <a:noFill/>
          <a:ln/>
        </p:spPr>
        <p:txBody>
          <a:bodyPr wrap="square" lIns="0" tIns="0" rIns="0" bIns="0" rtlCol="0" anchor="t"/>
          <a:lstStyle/>
          <a:p>
            <a:pPr indent="0" marL="0">
              <a:buNone/>
            </a:pPr>
            <a:r>
              <a:rPr lang="en-US" sz="1200" b="1" dirty="0">
                <a:solidFill>
                  <a:srgbClr val="F8A91A"/>
                </a:solidFill>
                <a:latin typeface="Calibri" pitchFamily="34" charset="0"/>
                <a:ea typeface="Calibri" pitchFamily="34" charset="-122"/>
                <a:cs typeface="Calibri" pitchFamily="34" charset="-120"/>
              </a:rPr>
              <a:t>First step: Finance reviews the two lists, issues refunds owed and chases unpaid deliveries; then review the payment process (all methods fail about 3.9%).</a:t>
            </a:r>
            <a:endParaRPr lang="en-US" sz="1200" dirty="0"/>
          </a:p>
        </p:txBody>
      </p:sp>
      <p:sp>
        <p:nvSpPr>
          <p:cNvPr id="16" name="Shape 14"/>
          <p:cNvSpPr/>
          <p:nvPr/>
        </p:nvSpPr>
        <p:spPr>
          <a:xfrm>
            <a:off x="8046720" y="1600200"/>
            <a:ext cx="3566160" cy="4343400"/>
          </a:xfrm>
          <a:prstGeom prst="roundRect">
            <a:avLst>
              <a:gd name="adj" fmla="val 2564"/>
            </a:avLst>
          </a:prstGeom>
          <a:solidFill>
            <a:srgbClr val="0B2352"/>
          </a:solidFill>
          <a:ln/>
        </p:spPr>
      </p:sp>
      <p:sp>
        <p:nvSpPr>
          <p:cNvPr id="17" name="Shape 15"/>
          <p:cNvSpPr/>
          <p:nvPr/>
        </p:nvSpPr>
        <p:spPr>
          <a:xfrm>
            <a:off x="8275320" y="1783080"/>
            <a:ext cx="640080" cy="640080"/>
          </a:xfrm>
          <a:prstGeom prst="ellipse">
            <a:avLst/>
          </a:prstGeom>
          <a:solidFill>
            <a:srgbClr val="EF7E29"/>
          </a:solidFill>
          <a:ln/>
        </p:spPr>
      </p:sp>
      <p:sp>
        <p:nvSpPr>
          <p:cNvPr id="18" name="Text 16"/>
          <p:cNvSpPr txBox="1"/>
          <p:nvPr/>
        </p:nvSpPr>
        <p:spPr>
          <a:xfrm>
            <a:off x="8275320" y="17830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9" name="Text 17"/>
          <p:cNvSpPr txBox="1"/>
          <p:nvPr/>
        </p:nvSpPr>
        <p:spPr>
          <a:xfrm>
            <a:off x="8275320" y="2560320"/>
            <a:ext cx="3108960" cy="777240"/>
          </a:xfrm>
          <a:prstGeom prst="rect">
            <a:avLst/>
          </a:prstGeom>
          <a:noFill/>
          <a:ln/>
        </p:spPr>
        <p:txBody>
          <a:bodyPr wrap="square" lIns="0" tIns="0" rIns="0" bIns="0" rtlCol="0" anchor="t"/>
          <a:lstStyle/>
          <a:p>
            <a:pPr indent="0" marL="0">
              <a:buNone/>
            </a:pPr>
            <a:r>
              <a:rPr lang="en-US" sz="1800" b="1" dirty="0">
                <a:solidFill>
                  <a:srgbClr val="F8A91A"/>
                </a:solidFill>
                <a:latin typeface="Calibri" pitchFamily="34" charset="0"/>
                <a:ea typeface="Calibri" pitchFamily="34" charset="-122"/>
                <a:cs typeface="Calibri" pitchFamily="34" charset="-120"/>
              </a:rPr>
              <a:t>Test cutting the deepest discounts</a:t>
            </a:r>
            <a:endParaRPr lang="en-US" sz="1800" dirty="0"/>
          </a:p>
        </p:txBody>
      </p:sp>
      <p:sp>
        <p:nvSpPr>
          <p:cNvPr id="20" name="Text 18"/>
          <p:cNvSpPr txBox="1"/>
          <p:nvPr/>
        </p:nvSpPr>
        <p:spPr>
          <a:xfrm>
            <a:off x="8275320" y="3383280"/>
            <a:ext cx="3108960" cy="1417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20% and 30% discounts cost R101,440 (35% of all discounts) and did not make customers buy more.</a:t>
            </a:r>
            <a:endParaRPr lang="en-US" sz="1300" dirty="0"/>
          </a:p>
        </p:txBody>
      </p:sp>
      <p:sp>
        <p:nvSpPr>
          <p:cNvPr id="21" name="Text 19"/>
          <p:cNvSpPr txBox="1"/>
          <p:nvPr/>
        </p:nvSpPr>
        <p:spPr>
          <a:xfrm>
            <a:off x="8275320" y="4800600"/>
            <a:ext cx="3108960" cy="1051560"/>
          </a:xfrm>
          <a:prstGeom prst="rect">
            <a:avLst/>
          </a:prstGeom>
          <a:noFill/>
          <a:ln/>
        </p:spPr>
        <p:txBody>
          <a:bodyPr wrap="square" lIns="0" tIns="0" rIns="0" bIns="0" rtlCol="0" anchor="t"/>
          <a:lstStyle/>
          <a:p>
            <a:pPr indent="0" marL="0">
              <a:buNone/>
            </a:pPr>
            <a:r>
              <a:rPr lang="en-US" sz="1200" b="1" dirty="0">
                <a:solidFill>
                  <a:srgbClr val="F8A91A"/>
                </a:solidFill>
                <a:latin typeface="Calibri" pitchFamily="34" charset="0"/>
                <a:ea typeface="Calibri" pitchFamily="34" charset="-122"/>
                <a:cs typeface="Calibri" pitchFamily="34" charset="-120"/>
              </a:rPr>
              <a:t>First step: pilot lower discounts on some products and watch orders. Keep promoting Headphones, Office Chair and Tablet, and plan around weekends.</a:t>
            </a:r>
            <a:endParaRPr lang="en-US" sz="1200" dirty="0"/>
          </a:p>
        </p:txBody>
      </p:sp>
      <p:pic>
        <p:nvPicPr>
          <p:cNvPr id="22" name="Image 0" descr="Bright_Store_Analysis_logo.png">    </p:cNvPr>
          <p:cNvPicPr>
            <a:picLocks noChangeAspect="1"/>
          </p:cNvPicPr>
          <p:nvPr/>
        </p:nvPicPr>
        <p:blipFill>
          <a:blip r:embed="rId1"/>
          <a:stretch>
            <a:fillRect/>
          </a:stretch>
        </p:blipFill>
        <p:spPr>
          <a:xfrm>
            <a:off x="548640" y="6382512"/>
            <a:ext cx="1243584" cy="291112"/>
          </a:xfrm>
          <a:prstGeom prst="rect">
            <a:avLst/>
          </a:prstGeom>
        </p:spPr>
      </p:pic>
      <p:sp>
        <p:nvSpPr>
          <p:cNvPr id="23" name="Text 20"/>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F8A91A"/>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133B"/>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6400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How to move forward</a:t>
            </a:r>
            <a:endParaRPr lang="en-US" sz="36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indent="0" marL="0">
              <a:buNone/>
            </a:pPr>
            <a:r>
              <a:rPr lang="en-US" sz="1600" dirty="0">
                <a:solidFill>
                  <a:srgbClr val="F8A91A"/>
                </a:solidFill>
                <a:latin typeface="Calibri" pitchFamily="34" charset="0"/>
                <a:ea typeface="Calibri" pitchFamily="34" charset="-122"/>
                <a:cs typeface="Calibri" pitchFamily="34" charset="-120"/>
              </a:rPr>
              <a:t>A suggested order of work, and the numbers to watch</a:t>
            </a:r>
            <a:endParaRPr lang="en-US" sz="1600" dirty="0"/>
          </a:p>
        </p:txBody>
      </p:sp>
      <p:sp>
        <p:nvSpPr>
          <p:cNvPr id="4" name="Shape 2"/>
          <p:cNvSpPr/>
          <p:nvPr/>
        </p:nvSpPr>
        <p:spPr>
          <a:xfrm>
            <a:off x="548640" y="1600200"/>
            <a:ext cx="3566160" cy="1691640"/>
          </a:xfrm>
          <a:prstGeom prst="roundRect">
            <a:avLst>
              <a:gd name="adj" fmla="val 5405"/>
            </a:avLst>
          </a:prstGeom>
          <a:solidFill>
            <a:srgbClr val="0B2352"/>
          </a:solidFill>
          <a:ln/>
        </p:spPr>
      </p:sp>
      <p:sp>
        <p:nvSpPr>
          <p:cNvPr id="5" name="Shape 3"/>
          <p:cNvSpPr/>
          <p:nvPr/>
        </p:nvSpPr>
        <p:spPr>
          <a:xfrm>
            <a:off x="777240" y="1783080"/>
            <a:ext cx="548640" cy="548640"/>
          </a:xfrm>
          <a:prstGeom prst="ellipse">
            <a:avLst/>
          </a:prstGeom>
          <a:solidFill>
            <a:srgbClr val="EF7E29"/>
          </a:solidFill>
          <a:ln/>
        </p:spPr>
      </p:sp>
      <p:pic>
        <p:nvPicPr>
          <p:cNvPr id="6" name="Image 0" descr="preencoded.png">    </p:cNvPr>
          <p:cNvPicPr>
            <a:picLocks noChangeAspect="1"/>
          </p:cNvPicPr>
          <p:nvPr/>
        </p:nvPicPr>
        <p:blipFill>
          <a:blip r:embed="rId1"/>
          <a:stretch>
            <a:fillRect/>
          </a:stretch>
        </p:blipFill>
        <p:spPr>
          <a:xfrm>
            <a:off x="914400" y="1920240"/>
            <a:ext cx="274320" cy="274320"/>
          </a:xfrm>
          <a:prstGeom prst="rect">
            <a:avLst/>
          </a:prstGeom>
        </p:spPr>
      </p:pic>
      <p:sp>
        <p:nvSpPr>
          <p:cNvPr id="7" name="Text 4"/>
          <p:cNvSpPr txBox="1"/>
          <p:nvPr/>
        </p:nvSpPr>
        <p:spPr>
          <a:xfrm>
            <a:off x="1508760" y="1783080"/>
            <a:ext cx="2377440" cy="548640"/>
          </a:xfrm>
          <a:prstGeom prst="rect">
            <a:avLst/>
          </a:prstGeom>
          <a:noFill/>
          <a:ln/>
        </p:spPr>
        <p:txBody>
          <a:bodyPr wrap="square" lIns="0" tIns="0" rIns="0" bIns="0" rtlCol="0" anchor="ctr"/>
          <a:lstStyle/>
          <a:p>
            <a:pPr indent="0" marL="0">
              <a:buNone/>
            </a:pPr>
            <a:r>
              <a:rPr lang="en-US" sz="2000" b="1" dirty="0">
                <a:solidFill>
                  <a:srgbClr val="F8A91A"/>
                </a:solidFill>
                <a:latin typeface="Calibri" pitchFamily="34" charset="0"/>
                <a:ea typeface="Calibri" pitchFamily="34" charset="-122"/>
                <a:cs typeface="Calibri" pitchFamily="34" charset="-120"/>
              </a:rPr>
              <a:t>Now</a:t>
            </a:r>
            <a:endParaRPr lang="en-US" sz="2000" dirty="0"/>
          </a:p>
        </p:txBody>
      </p:sp>
      <p:sp>
        <p:nvSpPr>
          <p:cNvPr id="8" name="Text 5"/>
          <p:cNvSpPr txBox="1"/>
          <p:nvPr/>
        </p:nvSpPr>
        <p:spPr>
          <a:xfrm>
            <a:off x="777240" y="2468880"/>
            <a:ext cx="315468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Start the investigation and pull the two payment lists</a:t>
            </a:r>
            <a:endParaRPr lang="en-US" sz="1400" dirty="0"/>
          </a:p>
        </p:txBody>
      </p:sp>
      <p:sp>
        <p:nvSpPr>
          <p:cNvPr id="9" name="Shape 6"/>
          <p:cNvSpPr/>
          <p:nvPr/>
        </p:nvSpPr>
        <p:spPr>
          <a:xfrm>
            <a:off x="4297680" y="1600200"/>
            <a:ext cx="3566160" cy="1691640"/>
          </a:xfrm>
          <a:prstGeom prst="roundRect">
            <a:avLst>
              <a:gd name="adj" fmla="val 5405"/>
            </a:avLst>
          </a:prstGeom>
          <a:solidFill>
            <a:srgbClr val="0B2352"/>
          </a:solidFill>
          <a:ln/>
        </p:spPr>
      </p:sp>
      <p:sp>
        <p:nvSpPr>
          <p:cNvPr id="10" name="Shape 7"/>
          <p:cNvSpPr/>
          <p:nvPr/>
        </p:nvSpPr>
        <p:spPr>
          <a:xfrm>
            <a:off x="4526280" y="1783080"/>
            <a:ext cx="548640" cy="548640"/>
          </a:xfrm>
          <a:prstGeom prst="ellipse">
            <a:avLst/>
          </a:prstGeom>
          <a:solidFill>
            <a:srgbClr val="EF7E29"/>
          </a:solidFill>
          <a:ln/>
        </p:spPr>
      </p:sp>
      <p:pic>
        <p:nvPicPr>
          <p:cNvPr id="11" name="Image 1" descr="preencoded.png">    </p:cNvPr>
          <p:cNvPicPr>
            <a:picLocks noChangeAspect="1"/>
          </p:cNvPicPr>
          <p:nvPr/>
        </p:nvPicPr>
        <p:blipFill>
          <a:blip r:embed="rId2"/>
          <a:stretch>
            <a:fillRect/>
          </a:stretch>
        </p:blipFill>
        <p:spPr>
          <a:xfrm>
            <a:off x="4663440" y="1920240"/>
            <a:ext cx="274320" cy="274320"/>
          </a:xfrm>
          <a:prstGeom prst="rect">
            <a:avLst/>
          </a:prstGeom>
        </p:spPr>
      </p:pic>
      <p:sp>
        <p:nvSpPr>
          <p:cNvPr id="12" name="Text 8"/>
          <p:cNvSpPr txBox="1"/>
          <p:nvPr/>
        </p:nvSpPr>
        <p:spPr>
          <a:xfrm>
            <a:off x="5257800" y="1783080"/>
            <a:ext cx="2377440" cy="548640"/>
          </a:xfrm>
          <a:prstGeom prst="rect">
            <a:avLst/>
          </a:prstGeom>
          <a:noFill/>
          <a:ln/>
        </p:spPr>
        <p:txBody>
          <a:bodyPr wrap="square" lIns="0" tIns="0" rIns="0" bIns="0" rtlCol="0" anchor="ctr"/>
          <a:lstStyle/>
          <a:p>
            <a:pPr indent="0" marL="0">
              <a:buNone/>
            </a:pPr>
            <a:r>
              <a:rPr lang="en-US" sz="2000" b="1" dirty="0">
                <a:solidFill>
                  <a:srgbClr val="F8A91A"/>
                </a:solidFill>
                <a:latin typeface="Calibri" pitchFamily="34" charset="0"/>
                <a:ea typeface="Calibri" pitchFamily="34" charset="-122"/>
                <a:cs typeface="Calibri" pitchFamily="34" charset="-120"/>
              </a:rPr>
              <a:t>Next</a:t>
            </a:r>
            <a:endParaRPr lang="en-US" sz="2000" dirty="0"/>
          </a:p>
        </p:txBody>
      </p:sp>
      <p:sp>
        <p:nvSpPr>
          <p:cNvPr id="13" name="Text 9"/>
          <p:cNvSpPr txBox="1"/>
          <p:nvPr/>
        </p:nvSpPr>
        <p:spPr>
          <a:xfrm>
            <a:off x="4526280" y="2468880"/>
            <a:ext cx="315468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Fix the payment process and settle refunds and unpaid orders</a:t>
            </a:r>
            <a:endParaRPr lang="en-US" sz="1400" dirty="0"/>
          </a:p>
        </p:txBody>
      </p:sp>
      <p:sp>
        <p:nvSpPr>
          <p:cNvPr id="14" name="Shape 10"/>
          <p:cNvSpPr/>
          <p:nvPr/>
        </p:nvSpPr>
        <p:spPr>
          <a:xfrm>
            <a:off x="8046720" y="1600200"/>
            <a:ext cx="3566160" cy="1691640"/>
          </a:xfrm>
          <a:prstGeom prst="roundRect">
            <a:avLst>
              <a:gd name="adj" fmla="val 5405"/>
            </a:avLst>
          </a:prstGeom>
          <a:solidFill>
            <a:srgbClr val="0B2352"/>
          </a:solidFill>
          <a:ln/>
        </p:spPr>
      </p:sp>
      <p:sp>
        <p:nvSpPr>
          <p:cNvPr id="15" name="Shape 11"/>
          <p:cNvSpPr/>
          <p:nvPr/>
        </p:nvSpPr>
        <p:spPr>
          <a:xfrm>
            <a:off x="8275320" y="1783080"/>
            <a:ext cx="548640" cy="548640"/>
          </a:xfrm>
          <a:prstGeom prst="ellipse">
            <a:avLst/>
          </a:prstGeom>
          <a:solidFill>
            <a:srgbClr val="EF7E29"/>
          </a:solidFill>
          <a:ln/>
        </p:spPr>
      </p:sp>
      <p:pic>
        <p:nvPicPr>
          <p:cNvPr id="16" name="Image 2" descr="preencoded.png">    </p:cNvPr>
          <p:cNvPicPr>
            <a:picLocks noChangeAspect="1"/>
          </p:cNvPicPr>
          <p:nvPr/>
        </p:nvPicPr>
        <p:blipFill>
          <a:blip r:embed="rId3"/>
          <a:stretch>
            <a:fillRect/>
          </a:stretch>
        </p:blipFill>
        <p:spPr>
          <a:xfrm>
            <a:off x="8412480" y="1920240"/>
            <a:ext cx="274320" cy="274320"/>
          </a:xfrm>
          <a:prstGeom prst="rect">
            <a:avLst/>
          </a:prstGeom>
        </p:spPr>
      </p:pic>
      <p:sp>
        <p:nvSpPr>
          <p:cNvPr id="17" name="Text 12"/>
          <p:cNvSpPr txBox="1"/>
          <p:nvPr/>
        </p:nvSpPr>
        <p:spPr>
          <a:xfrm>
            <a:off x="9006840" y="1783080"/>
            <a:ext cx="2377440" cy="548640"/>
          </a:xfrm>
          <a:prstGeom prst="rect">
            <a:avLst/>
          </a:prstGeom>
          <a:noFill/>
          <a:ln/>
        </p:spPr>
        <p:txBody>
          <a:bodyPr wrap="square" lIns="0" tIns="0" rIns="0" bIns="0" rtlCol="0" anchor="ctr"/>
          <a:lstStyle/>
          <a:p>
            <a:pPr indent="0" marL="0">
              <a:buNone/>
            </a:pPr>
            <a:r>
              <a:rPr lang="en-US" sz="2000" b="1" dirty="0">
                <a:solidFill>
                  <a:srgbClr val="F8A91A"/>
                </a:solidFill>
                <a:latin typeface="Calibri" pitchFamily="34" charset="0"/>
                <a:ea typeface="Calibri" pitchFamily="34" charset="-122"/>
                <a:cs typeface="Calibri" pitchFamily="34" charset="-120"/>
              </a:rPr>
              <a:t>Then</a:t>
            </a:r>
            <a:endParaRPr lang="en-US" sz="2000" dirty="0"/>
          </a:p>
        </p:txBody>
      </p:sp>
      <p:sp>
        <p:nvSpPr>
          <p:cNvPr id="18" name="Text 13"/>
          <p:cNvSpPr txBox="1"/>
          <p:nvPr/>
        </p:nvSpPr>
        <p:spPr>
          <a:xfrm>
            <a:off x="8275320" y="2468880"/>
            <a:ext cx="315468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Pilot lower discounts and measure the effect on orders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109960" cy="914400"/>
        </p:xfrm>
        <a:graphic>
          <a:graphicData uri="http://schemas.openxmlformats.org/drawingml/2006/table">
            <a:tbl>
              <a:tblPr/>
              <a:tblGrid>
                <a:gridCol w="3291840"/>
                <a:gridCol w="3566160"/>
                <a:gridCol w="4251960"/>
              </a:tblGrid>
              <a:tr h="457200">
                <a:tc>
                  <a:txBody>
                    <a:bodyPr/>
                    <a:lstStyle/>
                    <a:p>
                      <a:pPr indent="0" marL="0">
                        <a:buNone/>
                      </a:pPr>
                      <a:r>
                        <a:rPr lang="en-US" sz="1300" b="1" dirty="0">
                          <a:solidFill>
                            <a:srgbClr val="00133B"/>
                          </a:solidFill>
                          <a:latin typeface="Calibri" pitchFamily="34" charset="0"/>
                          <a:ea typeface="Calibri" pitchFamily="34" charset="-122"/>
                          <a:cs typeface="Calibri" pitchFamily="34" charset="-120"/>
                        </a:rPr>
                        <a:t>What to track</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F8A91A"/>
                    </a:solidFill>
                  </a:tcPr>
                </a:tc>
                <a:tc>
                  <a:txBody>
                    <a:bodyPr/>
                    <a:lstStyle/>
                    <a:p>
                      <a:pPr indent="0" marL="0">
                        <a:buNone/>
                      </a:pPr>
                      <a:r>
                        <a:rPr lang="en-US" sz="1300" b="1" dirty="0">
                          <a:solidFill>
                            <a:srgbClr val="00133B"/>
                          </a:solidFill>
                          <a:latin typeface="Calibri" pitchFamily="34" charset="0"/>
                          <a:ea typeface="Calibri" pitchFamily="34" charset="-122"/>
                          <a:cs typeface="Calibri" pitchFamily="34" charset="-120"/>
                        </a:rPr>
                        <a:t>Where we are now</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F8A91A"/>
                    </a:solidFill>
                  </a:tcPr>
                </a:tc>
                <a:tc>
                  <a:txBody>
                    <a:bodyPr/>
                    <a:lstStyle/>
                    <a:p>
                      <a:pPr indent="0" marL="0">
                        <a:buNone/>
                      </a:pPr>
                      <a:r>
                        <a:rPr lang="en-US" sz="1300" b="1" dirty="0">
                          <a:solidFill>
                            <a:srgbClr val="00133B"/>
                          </a:solidFill>
                          <a:latin typeface="Calibri" pitchFamily="34" charset="0"/>
                          <a:ea typeface="Calibri" pitchFamily="34" charset="-122"/>
                          <a:cs typeface="Calibri" pitchFamily="34" charset="-120"/>
                        </a:rPr>
                        <a:t>Where we want to head</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F8A91A"/>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Orders per month</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About 1,190 (Feb to Jun 2026)</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Back toward about 1,770, the level before February 2026</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Orders with conflicting payment status</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6,867 orders (R488,000 in value)</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Zero unexplained mismatches</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Payment failure rate</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3.8% of payments</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Falling month by month</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Orders at 20% and 30% discount</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11% of orders, R101,440 of discount</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Lower, with no drop in items per order</a:t>
                      </a:r>
                      <a:endParaRPr lang="en-US" sz="1300" dirty="0">
                        <a:latin typeface="Calibri" charset="0"/>
                        <a:ea typeface="Calibri" charset="0"/>
                        <a:cs typeface="Calibri" charset="0"/>
                      </a:endParaRPr>
                    </a:p>
                  </a:txBody>
                  <a:tcPr marL="91440" marR="91440" marT="45720" marB="45720" anchor="ctr">
                    <a:lnL w="6350" cap="flat" cmpd="sng" algn="ctr">
                      <a:solidFill>
                        <a:srgbClr val="1B3566"/>
                      </a:solidFill>
                      <a:prstDash val="solid"/>
                      <a:round/>
                      <a:headEnd type="none" w="med" len="med"/>
                      <a:tailEnd type="none" w="med" len="med"/>
                    </a:lnL>
                    <a:lnR w="6350" cap="flat" cmpd="sng" algn="ctr">
                      <a:solidFill>
                        <a:srgbClr val="1B3566"/>
                      </a:solidFill>
                      <a:prstDash val="solid"/>
                      <a:round/>
                      <a:headEnd type="none" w="med" len="med"/>
                      <a:tailEnd type="none" w="med" len="med"/>
                    </a:lnR>
                    <a:lnT w="6350" cap="flat" cmpd="sng" algn="ctr">
                      <a:solidFill>
                        <a:srgbClr val="1B3566"/>
                      </a:solidFill>
                      <a:prstDash val="solid"/>
                      <a:round/>
                      <a:headEnd type="none" w="med" len="med"/>
                      <a:tailEnd type="none" w="med" len="med"/>
                    </a:lnT>
                    <a:lnB w="6350" cap="flat" cmpd="sng" algn="ctr">
                      <a:solidFill>
                        <a:srgbClr val="1B3566"/>
                      </a:solidFill>
                      <a:prstDash val="solid"/>
                      <a:round/>
                      <a:headEnd type="none" w="med" len="med"/>
                      <a:tailEnd type="none" w="med" len="med"/>
                    </a:lnB>
                    <a:solidFill>
                      <a:srgbClr val="0B2352"/>
                    </a:solidFill>
                  </a:tcPr>
                </a:tc>
              </a:tr>
            </a:tbl>
          </a:graphicData>
        </a:graphic>
      </p:graphicFrame>
      <p:sp>
        <p:nvSpPr>
          <p:cNvPr id="20" name="Text 14"/>
          <p:cNvSpPr txBox="1"/>
          <p:nvPr/>
        </p:nvSpPr>
        <p:spPr>
          <a:xfrm>
            <a:off x="548640" y="5943600"/>
            <a:ext cx="10058400" cy="320040"/>
          </a:xfrm>
          <a:prstGeom prst="rect">
            <a:avLst/>
          </a:prstGeom>
          <a:noFill/>
          <a:ln/>
        </p:spPr>
        <p:txBody>
          <a:bodyPr wrap="square" lIns="0" tIns="0" rIns="0" bIns="0" rtlCol="0" anchor="ctr"/>
          <a:lstStyle/>
          <a:p>
            <a:pPr indent="0" marL="0">
              <a:buNone/>
            </a:pPr>
            <a:r>
              <a:rPr lang="en-US" sz="1200" i="1" dirty="0">
                <a:solidFill>
                  <a:srgbClr val="F8A91A"/>
                </a:solidFill>
                <a:latin typeface="Calibri" pitchFamily="34" charset="0"/>
                <a:ea typeface="Calibri" pitchFamily="34" charset="-122"/>
                <a:cs typeface="Calibri" pitchFamily="34" charset="-120"/>
              </a:rPr>
              <a:t>The timing is a suggestion. The numbers to track come from this analysis, so progress can be measured the same way next quarter.</a:t>
            </a:r>
            <a:endParaRPr lang="en-US" sz="1200" dirty="0"/>
          </a:p>
        </p:txBody>
      </p:sp>
      <p:pic>
        <p:nvPicPr>
          <p:cNvPr id="21" name="Image 3" descr="Bright_Store_Analysis_logo.png">    </p:cNvPr>
          <p:cNvPicPr>
            <a:picLocks noChangeAspect="1"/>
          </p:cNvPicPr>
          <p:nvPr/>
        </p:nvPicPr>
        <p:blipFill>
          <a:blip r:embed="rId4"/>
          <a:stretch>
            <a:fillRect/>
          </a:stretch>
        </p:blipFill>
        <p:spPr>
          <a:xfrm>
            <a:off x="548640" y="6382512"/>
            <a:ext cx="1243584" cy="291112"/>
          </a:xfrm>
          <a:prstGeom prst="rect">
            <a:avLst/>
          </a:prstGeom>
        </p:spPr>
      </p:pic>
      <p:sp>
        <p:nvSpPr>
          <p:cNvPr id="22" name="Text 15"/>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100" dirty="0">
                <a:solidFill>
                  <a:srgbClr val="F8A91A"/>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Store Analysis: How Is the Shop Performing?</dc:title>
  <dc:subject>PptxGenJS Presentation</dc:subject>
  <dc:creator>Bright Store Analysis</dc:creator>
  <cp:lastModifiedBy>Bright Store Analysis</cp:lastModifiedBy>
  <cp:revision>1</cp:revision>
  <dcterms:created xsi:type="dcterms:W3CDTF">2026-10-03T17:39:30Z</dcterms:created>
  <dcterms:modified xsi:type="dcterms:W3CDTF">2026-10-03T17:39:30Z</dcterms:modified>
</cp:coreProperties>
</file>